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image" Target="../media/image-2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9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4" name="Shape 1"/>
          <p:cNvSpPr/>
          <p:nvPr/>
        </p:nvSpPr>
        <p:spPr>
          <a:xfrm>
            <a:off x="548640" y="4434840"/>
            <a:ext cx="146304" cy="21031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2"/>
          <p:cNvSpPr/>
          <p:nvPr/>
        </p:nvSpPr>
        <p:spPr>
          <a:xfrm>
            <a:off x="868680" y="42976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Мармарис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868680" y="5349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Идеальная неделя под парусом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868680" y="6126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Кольцевой маршрут 26.09–03.10.2026. Парусная яхта 10–12 м, bareboat, шкипер.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644652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~110 морских миль · ~18 часов хода · без перехода длиннее 5 ч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в одном абзаце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868680"/>
            <a:ext cx="1463040" cy="3657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Кольцо против часовой, защищённое полуостровом Бозбурун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11091672" cy="4572000"/>
          </a:xfrm>
          <a:prstGeom prst="rect">
            <a:avLst/>
          </a:prstGeom>
          <a:solidFill>
            <a:srgbClr val="F4F1E8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Мармарис → </a:t>
            </a:r>
            <a:pPr indent="0" marL="0">
              <a:buNone/>
            </a:pPr>
            <a:r>
              <a:rPr lang="en-US" sz="14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Чифтлик → Сёют → Селимие → Орхание → Датча → Книдос → </a:t>
            </a:r>
            <a:pPr indent="0" marL="0">
              <a:buNone/>
            </a:pPr>
            <a:r>
              <a:rPr lang="en-US" sz="14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Бозуккале → Серче Лиманы / Дирсек Бюкю → Турунч → Мармарис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438"/>
                </a:solidFill>
              </a:rPr>
              <a:t>Главное свойство маршрута. </a:t>
            </a:r>
            <a:pPr indent="0" marL="0">
              <a:buNone/>
            </a:pPr>
            <a:r>
              <a:rPr lang="en-US" sz="1400" dirty="0">
                <a:solidFill>
                  <a:srgbClr val="22303A"/>
                </a:solidFill>
              </a:rPr>
              <a:t>Золотая середина региона: защищённый залив Хисароню + культурный акцент Датчи и античного Книдоса. </a:t>
            </a:r>
            <a:pPr indent="0" marL="0">
              <a:buNone/>
            </a:pPr>
            <a:r>
              <a:rPr lang="en-US" sz="1400" dirty="0">
                <a:solidFill>
                  <a:srgbClr val="22303A"/>
                </a:solidFill>
              </a:rPr>
              <a:t>Два самых длинных плеча (Орхание→Датча 21.5 nm и Книдос→Бозуккале ~30 nm) остаются опциональными — их можно вырезать без потери смысла недели, если прогноз ухудшится. </a:t>
            </a:r>
            <a:pPr indent="0" marL="0">
              <a:buNone/>
            </a:pPr>
            <a:r>
              <a:rPr lang="en-US" sz="1400" i="1" dirty="0">
                <a:solidFill>
                  <a:srgbClr val="0B2438"/>
                </a:solidFill>
              </a:rPr>
              <a:t>Греция видна с палубы, но маршрут полностью турецкий.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5577840"/>
            <a:ext cx="10515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669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одного перехода длиннее 5 ч · Ни одной ночи в открытом море · Только Турция · Round-trip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6583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Мармарис · 26.09 → 03.10.2026 · ~110 nm · 7 ночей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5836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именно этот маршрут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868680"/>
            <a:ext cx="1463040" cy="3657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шести кандидатов по реальным расстояниям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023360"/>
                <a:gridCol w="914400"/>
                <a:gridCol w="914400"/>
                <a:gridCol w="267919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9F1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Вариант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9F1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9F1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9F1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9F1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Вердикт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только Хисароню (B-soft)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Минимальная петля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Слишком коротко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B · Бозбурун + Датча/Книдос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Петля с опциональным западным плечом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~17.7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Идеальный баланс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· Бозбурун 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 же без Датчи/Книдоса (через Бенджик)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Запасной погодный каркас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· Хисароню + Датча (южный возврат)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Близкий аналог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Менее защищённый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· + Бодрум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Западное расширение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Кара-Ада→Мармарис 40 nm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· + Гёчек/Фетхие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Восточное расширение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Один переход 9 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· + Кекова/Каш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Максимальный восток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Режим перегона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577840"/>
            <a:ext cx="11091672" cy="777240"/>
          </a:xfrm>
          <a:prstGeom prst="rect">
            <a:avLst/>
          </a:prstGeom>
          <a:solidFill>
            <a:srgbClr val="F4F1E8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5650992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к выбору: </a:t>
            </a:r>
            <a:pPr indent="0" marL="0">
              <a:buNone/>
            </a:pPr>
            <a:r>
              <a:rPr lang="en-US" sz="10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Неделя строится вокруг безопасного ядра (Бозбурун), а амбициозная часть (Датча/Книдос) добавляется по прогнозу за 48 ч. Это правильная асимметрия для шкипера с умеренным опытом и экипажем, где второй человек без опыта.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6583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Мармарис · 26.09 → 03.10.2026 · ~110 nm · 7 ночей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836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Погода окна 26.09–03.10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868680"/>
            <a:ext cx="1463040" cy="3657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Конец мелтеми: тёплая вода, длинные светлые ночи, полный флот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566160" cy="1508760"/>
          </a:xfrm>
          <a:prstGeom prst="rect">
            <a:avLst/>
          </a:prstGeom>
          <a:solidFill>
            <a:srgbClr val="F4F1E8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356616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4447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ВОЗДУХ ДНЁМ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13232" y="17373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27–30 °C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13232" y="2331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пик тепла в конце сентября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0" y="1280160"/>
            <a:ext cx="3566160" cy="1508760"/>
          </a:xfrm>
          <a:prstGeom prst="rect">
            <a:avLst/>
          </a:prstGeom>
          <a:solidFill>
            <a:srgbClr val="F4F1E8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280160"/>
            <a:ext cx="356616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4462272" y="14447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ВОЗДУХ НОЧЬЮ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62272" y="17373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20–22 °C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462272" y="2331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лёгкая куртка на вечернем бризе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6720" y="1280160"/>
            <a:ext cx="3566160" cy="1508760"/>
          </a:xfrm>
          <a:prstGeom prst="rect">
            <a:avLst/>
          </a:prstGeom>
          <a:solidFill>
            <a:srgbClr val="F4F1E8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280160"/>
            <a:ext cx="356616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8211312" y="14447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ВОДА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11312" y="17373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25–26 °C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11312" y="2331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купание без ограничений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2971800"/>
            <a:ext cx="3566160" cy="1508760"/>
          </a:xfrm>
          <a:prstGeom prst="rect">
            <a:avLst/>
          </a:prstGeom>
          <a:solidFill>
            <a:srgbClr val="F4F1E8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2971800"/>
            <a:ext cx="356616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31363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ВЕТЕР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13232" y="34290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 10–20 уз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13232" y="4023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мелтеми слабеет, дневной бриз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97680" y="2971800"/>
            <a:ext cx="3566160" cy="1508760"/>
          </a:xfrm>
          <a:prstGeom prst="rect">
            <a:avLst/>
          </a:prstGeom>
          <a:solidFill>
            <a:srgbClr val="F4F1E8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97680" y="2971800"/>
            <a:ext cx="356616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8" name="Text 26"/>
          <p:cNvSpPr/>
          <p:nvPr/>
        </p:nvSpPr>
        <p:spPr>
          <a:xfrm>
            <a:off x="4462272" y="31363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462272" y="34290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~18:55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462272" y="4023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дедлайн прихода 15:30–16:00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46720" y="2971800"/>
            <a:ext cx="3566160" cy="1508760"/>
          </a:xfrm>
          <a:prstGeom prst="rect">
            <a:avLst/>
          </a:prstGeom>
          <a:solidFill>
            <a:srgbClr val="F4F1E8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46720" y="2971800"/>
            <a:ext cx="356616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3" name="Text 31"/>
          <p:cNvSpPr/>
          <p:nvPr/>
        </p:nvSpPr>
        <p:spPr>
          <a:xfrm>
            <a:off x="8211312" y="31363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ЛУНА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211312" y="34290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🌕 полнолуние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211312" y="4023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светлые ночи 26.09–03.10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5074920"/>
            <a:ext cx="11091672" cy="1325880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516636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26.09 → 03.10, а не другие окна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1520" y="544068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E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26.09–03.10: </a:t>
            </a:r>
            <a:pPr indent="0" marL="0">
              <a:buNone/>
            </a:pPr>
            <a:r>
              <a:rPr lang="en-US" sz="115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полнолуние, пик тепла, полный флот.   </a:t>
            </a:r>
            <a:pPr indent="0" marL="0">
              <a:buNone/>
            </a:pPr>
            <a:r>
              <a:rPr lang="en-US" sz="1150" b="1" dirty="0">
                <a:solidFill>
                  <a:srgbClr val="FFC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03.10–10.10: </a:t>
            </a:r>
            <a:pPr indent="0" marL="0">
              <a:buNone/>
            </a:pPr>
            <a:r>
              <a:rPr lang="en-US" sz="115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−10–20% по цене, луна убывает.   </a:t>
            </a:r>
            <a:pPr indent="0" marL="0">
              <a:buNone/>
            </a:pPr>
            <a:r>
              <a:rPr lang="en-US" sz="1150" b="1" dirty="0">
                <a:solidFill>
                  <a:srgbClr val="FF9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10.10–17.10: </a:t>
            </a:r>
            <a:pPr indent="0" marL="0">
              <a:buNone/>
            </a:pPr>
            <a:r>
              <a:rPr lang="en-US" sz="115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−30–50%, но сокращается флот, закат в 18:30.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6583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Мармарис · 26.09 → 03.10.2026 · ~110 nm · 7 ночей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338560" y="65836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маршрута: кольцо против часовой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868680"/>
            <a:ext cx="1463040" cy="3657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Мармарис → западный Хисароню → Датча → восточный возврат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508760" y="1874520"/>
            <a:ext cx="3017520" cy="3017520"/>
          </a:xfrm>
          <a:prstGeom prst="ellipse">
            <a:avLst/>
          </a:prstGeom>
          <a:solidFill>
            <a:srgbClr val="EAF2F8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4937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против часовой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2788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Залив Хисароню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37360" y="3108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 от мелтеми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37360" y="3474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2 культурных акцента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37360" y="37490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Книдос · Лорима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5669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 и финиш: Мармарис · только турецкие воды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0" y="1143000"/>
            <a:ext cx="6217920" cy="4709160"/>
          </a:xfrm>
          <a:prstGeom prst="rect">
            <a:avLst/>
          </a:prstGeom>
          <a:solidFill>
            <a:srgbClr val="F4F1E8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307592"/>
            <a:ext cx="182880" cy="182880"/>
          </a:xfrm>
          <a:prstGeom prst="ellipse">
            <a:avLst/>
          </a:prstGeom>
          <a:solidFill>
            <a:srgbClr val="0B2438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2344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03720" y="118872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Мармарис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03720" y="144475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чек-ин Netsel/Albatros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5040" y="1810512"/>
            <a:ext cx="182880" cy="182880"/>
          </a:xfrm>
          <a:prstGeom prst="ellipse">
            <a:avLst/>
          </a:prstGeom>
          <a:solidFill>
            <a:srgbClr val="8A98A4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7373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03720" y="169164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Чифтлик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03720" y="194767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яхты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035040" y="2313432"/>
            <a:ext cx="182880" cy="182880"/>
          </a:xfrm>
          <a:prstGeom prst="ellipse">
            <a:avLst/>
          </a:prstGeom>
          <a:solidFill>
            <a:srgbClr val="8A98A4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22402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03720" y="219456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Сёют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03720" y="245059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гастрономический вечер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035040" y="2816352"/>
            <a:ext cx="182880" cy="182880"/>
          </a:xfrm>
          <a:prstGeom prst="ellipse">
            <a:avLst/>
          </a:prstGeom>
          <a:solidFill>
            <a:srgbClr val="8A98A4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274320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03720" y="269748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Селимие → Орхание · Kızkumu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03720" y="29535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открыточная бухта, песчаная коса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35040" y="3319272"/>
            <a:ext cx="182880" cy="182880"/>
          </a:xfrm>
          <a:prstGeom prst="ellipse">
            <a:avLst/>
          </a:prstGeom>
          <a:solidFill>
            <a:srgbClr val="8A98A4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32461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03720" y="320040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Датча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03720" y="345643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марина, провизия, Eski Datça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035040" y="3822192"/>
            <a:ext cx="182880" cy="1828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37490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03720" y="370332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Книдос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03720" y="395935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театр, Афродита Праксителя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035040" y="4325112"/>
            <a:ext cx="182880" cy="1828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42519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03720" y="420624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Бозуккале · Лорима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03720" y="446227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эллинистическая крепость IV в. до н.э.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035040" y="4828032"/>
            <a:ext cx="182880" cy="182880"/>
          </a:xfrm>
          <a:prstGeom prst="ellipse">
            <a:avLst/>
          </a:prstGeom>
          <a:solidFill>
            <a:srgbClr val="8A98A4"/>
          </a:solidFill>
          <a:ln/>
        </p:spPr>
      </p:sp>
      <p:sp>
        <p:nvSpPr>
          <p:cNvPr id="43" name="Text 41"/>
          <p:cNvSpPr/>
          <p:nvPr/>
        </p:nvSpPr>
        <p:spPr>
          <a:xfrm>
            <a:off x="6309360" y="47548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903720" y="470916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Серче / Дирсек → Турунч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903720" y="496519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закрытые бухты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035040" y="5330952"/>
            <a:ext cx="182880" cy="182880"/>
          </a:xfrm>
          <a:prstGeom prst="ellipse">
            <a:avLst/>
          </a:prstGeom>
          <a:solidFill>
            <a:srgbClr val="0B2438"/>
          </a:solidFill>
          <a:ln/>
        </p:spPr>
      </p:sp>
      <p:sp>
        <p:nvSpPr>
          <p:cNvPr id="47" name="Text 45"/>
          <p:cNvSpPr/>
          <p:nvPr/>
        </p:nvSpPr>
        <p:spPr>
          <a:xfrm>
            <a:off x="6309360" y="525780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Д7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903720" y="521208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Мармарис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903720" y="54681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заправка, чек-аут до 09:00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48640" y="5989320"/>
            <a:ext cx="11091672" cy="411480"/>
          </a:xfrm>
          <a:prstGeom prst="rect">
            <a:avLst/>
          </a:prstGeom>
          <a:solidFill>
            <a:srgbClr val="F4F1E8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1520" y="6007608"/>
            <a:ext cx="10725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⬤ </a:t>
            </a:r>
            <a:pPr indent="0" marL="0">
              <a:buNone/>
            </a:pPr>
            <a:r>
              <a:rPr lang="en-US" sz="10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стоянка ночёвки   </a:t>
            </a:r>
            <a:pPr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</a:t>
            </a:r>
            <a:pPr indent="0" marL="0">
              <a:buNone/>
            </a:pPr>
            <a:r>
              <a:rPr lang="en-US" sz="10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культурный акцент (Книдос, Лорима)   </a:t>
            </a:r>
            <a:pPr indent="0" marL="0">
              <a:buNone/>
            </a:pPr>
            <a:r>
              <a:rPr lang="en-US" sz="1000" b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</a:t>
            </a:r>
            <a:pPr indent="0" marL="0">
              <a:buNone/>
            </a:pPr>
            <a:r>
              <a:rPr lang="en-US" sz="10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транзит / якорь днём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53" name="Text 51"/>
          <p:cNvSpPr/>
          <p:nvPr/>
        </p:nvSpPr>
        <p:spPr>
          <a:xfrm>
            <a:off x="365760" y="6583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Мармарис · 26.09 → 03.10.2026 · ~110 nm · 7 ночей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338560" y="65836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по дням · 1/2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868680"/>
            <a:ext cx="1463040" cy="3657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Дни 0–3: чек-ин и защищённый залив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005840"/>
                <a:gridCol w="5029200"/>
                <a:gridCol w="822960"/>
                <a:gridCol w="822960"/>
                <a:gridCol w="27706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9F1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День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9F1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Дата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9F1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Участок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E9F1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E9F1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9F1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Ночёвка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сб 26.09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Чек-ин Netsel/Albatros, provisioning, инструктаж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Мармарис (марина)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 27.09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Мармарис → Чифтлик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Чифтлик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пн 28.09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Чифтлик → Сёют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Сёют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вт 29.09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Сёют → Селимие → Орхание (Kızkumu)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Орхание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337560"/>
            <a:ext cx="5440680" cy="3017520"/>
          </a:xfrm>
          <a:prstGeom prst="rect">
            <a:avLst/>
          </a:prstGeom>
          <a:solidFill>
            <a:srgbClr val="F4F1E8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34290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происходит в первые три дня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3749040"/>
            <a:ext cx="512064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Д1: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короткий первый выход — проверка яхты под парусами (двигатель, реверс, якорная лебёдка). Чифтлик — песок 5–6 м, якорь или причал Deniz Restaurant (14 яхт).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Д2: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широкая защищённая бухта Сёют, рестораны на воде, гастрономический вечер.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Д3: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Селимие — открыточная бухта с ресторанными причалами (бронировать к 14:00). Орхание — Kızkumu, песчаная коса 600 м «по воде». Martı Marina как запасной вариант с водой/электричеством.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63640" y="3337560"/>
            <a:ext cx="5376672" cy="3017520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11" name="Text 8"/>
          <p:cNvSpPr/>
          <p:nvPr/>
        </p:nvSpPr>
        <p:spPr>
          <a:xfrm>
            <a:off x="6446520" y="3429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три дня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46520" y="37490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nm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6446520" y="4389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пробег за 3 переходных дня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46520" y="47548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ч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446520" y="53035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суммарно под мотором/парусом — остальное время на якорях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17" name="Text 14"/>
          <p:cNvSpPr/>
          <p:nvPr/>
        </p:nvSpPr>
        <p:spPr>
          <a:xfrm>
            <a:off x="365760" y="6583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Мармарис · 26.09 → 03.10.2026 · ~110 nm · 7 ночей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5836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по дням · 2/2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868680"/>
            <a:ext cx="1463040" cy="3657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Дни 4–7: главные переходы, день-награда и возврат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005840"/>
                <a:gridCol w="5029200"/>
                <a:gridCol w="822960"/>
                <a:gridCol w="822960"/>
                <a:gridCol w="27706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9F1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День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9F1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Дата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9F1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Участок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E9F1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E9F1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9F1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Ночёвка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 30.09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Орхание → Датча Марина (выход до бриза)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Датча Марина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 01.10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Датча → Книдос → Бозуккале (Loryma)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Бозуккале (Loryma)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пт 02.10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Бозуккале → Серче Лиманы / Дирсек Бюкю → Турунч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Турунч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сб 03.10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Турунч → Мармарис, топливо, чек-аут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520440"/>
            <a:ext cx="7315200" cy="2834640"/>
          </a:xfrm>
          <a:prstGeom prst="rect">
            <a:avLst/>
          </a:prstGeom>
          <a:solidFill>
            <a:srgbClr val="F4F1E8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361188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Дни 4–5: главное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3931920"/>
            <a:ext cx="6949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4 (Орхание→Датча, 22 nm):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07:00–08:00, приход ~12:00. Единственный организационный переход. Датча Марина — полный сервис, топливо, вода. Закупка: миндаль, оливки, тимьяновый мёд.
</a:t>
            </a:r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5 (Датча→Книдос→Бозуккале, 45 nm):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на рассвете. Книдос — театр, храм Афродиты, две древние гавани. Рейд открыт юго-западу — ночёвка только при устойчивом прогнозе. Затем вдоль южного берега Датчи в Бозуккале.
</a:t>
            </a:r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Дни 6–7: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короткий день-награда (Серче/Дирсек/Турунч) и 5-мильный возврат в Мармарис с заправкой и чек-аутом к 09:00–10:30.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092440" y="3520440"/>
            <a:ext cx="3547872" cy="28346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8"/>
          <p:cNvSpPr/>
          <p:nvPr/>
        </p:nvSpPr>
        <p:spPr>
          <a:xfrm>
            <a:off x="8275320" y="3611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Всего за неделю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75320" y="39319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nm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8275320" y="47548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3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пробег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A3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+ 17.7 ч под ходом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75320" y="5577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ночей на борту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16" name="Text 13"/>
          <p:cNvSpPr/>
          <p:nvPr/>
        </p:nvSpPr>
        <p:spPr>
          <a:xfrm>
            <a:off x="365760" y="6583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Мармарис · 26.09 → 03.10.2026 · ~110 nm · 7 ночей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38560" y="65836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0" dirty="0"/>
          </a:p>
        </p:txBody>
      </p:sp>
      <p:sp>
        <p:nvSpPr>
          <p:cNvPr id="4" name="Shape 2"/>
          <p:cNvSpPr/>
          <p:nvPr/>
        </p:nvSpPr>
        <p:spPr>
          <a:xfrm>
            <a:off x="5943600" y="3108960"/>
            <a:ext cx="54864" cy="7315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0" y="30175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Дни 1–3: защищённый залив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0" y="3931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A8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Кольцо против часовой · 26.09 → 03.10 · 7 ночей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Дни 1–3: защищённый залив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868680"/>
            <a:ext cx="1463040" cy="3657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Короткие переходы, проверка яхты, вход в ритм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53949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Тактика первых дней: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короткие плечи 7–8 nm, чтобы проверить яхту на воде рядом с базой. Если что-то пойдёт не так — можно вернуться в Мармарис за 1–2 часа.
</a:t>
            </a:r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Д1 · Мармарис → Чифтлик (8 nm, 1.3 ч).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Песок 5–6 м, якорь в 100–150 м от пляжа или причал Deniz Restaurant (14 яхт, глубина 4–5 м). Рядом тихая бухточка Gebekse.
</a:t>
            </a:r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Д2 · Чифтлик → Сёют (7 nm, 1.2 ч).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Широкая защищённая бухта, рестораны на воде, якорь + концы на берег. Гастрономический вечер.
</a:t>
            </a:r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Д3 · Сёют → Селимие → Орхание (7 nm, 1.1 ч).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Селимие — открыточная бухта, ресторанные причалы (бронировать к 14:00). Орхание — песчаная коса Kızkumu 600 м «по воде». Martı Marina как запасной вариант с водой/электричеством.</a:t>
            </a:r>
            <a:endParaRPr lang="en-US" sz="1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0" y="1280160"/>
            <a:ext cx="3017520" cy="3931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686800" y="5257800"/>
            <a:ext cx="3017520" cy="310896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9" name="Text 6"/>
          <p:cNvSpPr/>
          <p:nvPr/>
        </p:nvSpPr>
        <p:spPr>
          <a:xfrm>
            <a:off x="8732520" y="526694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Залив Хисароню, защищён от NW-мелтеми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6583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Мармарис · 26.09 → 03.10.2026 · ~110 nm · 7 ночей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5836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0" dirty="0"/>
          </a:p>
        </p:txBody>
      </p:sp>
      <p:sp>
        <p:nvSpPr>
          <p:cNvPr id="4" name="Shape 2"/>
          <p:cNvSpPr/>
          <p:nvPr/>
        </p:nvSpPr>
        <p:spPr>
          <a:xfrm>
            <a:off x="5943600" y="3108960"/>
            <a:ext cx="54864" cy="7315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0" y="30175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Дни 4–5: главные переходы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0" y="3931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A8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Кольцо против часовой · 26.09 → 03.10 · 7 ночей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Дни 4–5: главные переходы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868680"/>
            <a:ext cx="1463040" cy="3657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до бриза. Два самых длинных плеча — и самых интересных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53949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07:00–08:00, приход до дневного бриза — оба дня.
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Д4 · Орхание → Датча Марина (22 nm, 3.5 ч).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Датча Марина: полный сервис, топливо, вода, электричество. Тесные места — больше кранцев, аккуратный заход. Закупка: миндаль (Датча — миндальная столица Турции), оливки, масло, тимьяновый мёд.
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Д5 · Датча → Книдос → Бозуккале (45 nm, 7.3 ч).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Книдос: дорийский город на мысе — театр, храм Афродиты, две древние гавани, схождение двух морей (Эгейское и Средиземное); 2–3 ч на осмотр. Рейд открыт юго-западу: ночёвка только при устойчивом прогнозе. Затем вдоль южного берега Датчи в Бозуккале — крепость Лорима над бухтой, бирюзовая вода, 8 мурингов + генератор.
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5 можно разбить: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ночёвка в Датче вторая (тогда Книдос — дневной заход), либо при спокойном прогнозе — якорная стоянка у самого Книдоса.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0" y="1280160"/>
            <a:ext cx="3017520" cy="3931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686800" y="5257800"/>
            <a:ext cx="3017520" cy="310896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9" name="Text 6"/>
          <p:cNvSpPr/>
          <p:nvPr/>
        </p:nvSpPr>
        <p:spPr>
          <a:xfrm>
            <a:off x="8732520" y="526694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Древние гавани Книдоса · схождение двух морей (Эгейское и Средиземное)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6583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Мармарис · 26.09 → 03.10.2026 · ~110 nm · 7 ночей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5836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0" dirty="0"/>
          </a:p>
        </p:txBody>
      </p:sp>
      <p:sp>
        <p:nvSpPr>
          <p:cNvPr id="4" name="Shape 2"/>
          <p:cNvSpPr/>
          <p:nvPr/>
        </p:nvSpPr>
        <p:spPr>
          <a:xfrm>
            <a:off x="5943600" y="3108960"/>
            <a:ext cx="54864" cy="7315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0" y="30175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Дни 6–7: день-награда и возврат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0" y="3931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A8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Кольцо против часовой · 26.09 → 03.10 · 7 ночей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Дни 6–7: день-награда и возврат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868680"/>
            <a:ext cx="1463040" cy="3657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Последние защищённые бухты перед базой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53949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Д6 · Бозуккале → Серче Лиманы / Дирсек Бюкю → Турунч (16 nm, 2.6 ч).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Короткий день-награда. Серче Лиманы — полностью закрытая бухта, ресторан Sailors House, без воды/электричества. Альтернатива: Дирсек Бюкю — причал на ~17 яхт, 5 муурингов, до 15:00 пока гулеты не заняли всё. Турунч — курортный посёлок, последняя ночь перед базой.
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Д7 · Турунч → Мармарис (5 nm, 0.8 ч).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Последний переход, нет спешки — выходим утром, в Мармарисе до 10:30 (стандартный чек-аут). Утреннее купание в Kadırga Bay по дороге. Заправка перед сдачей. Швартовка в Marmaris Marina или Albatros Marina.
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чекаута: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старый город Мармариса, крепость Сулеймана, бары на набережной, трансфер в аэропорт Даламан (1.5 ч).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0" y="1280160"/>
            <a:ext cx="3017520" cy="3931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686800" y="5257800"/>
            <a:ext cx="3017520" cy="310896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9" name="Text 6"/>
          <p:cNvSpPr/>
          <p:nvPr/>
        </p:nvSpPr>
        <p:spPr>
          <a:xfrm>
            <a:off x="8732520" y="526694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Турунч — последняя ночёвка перед Мармарисом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6583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Мармарис · 26.09 → 03.10.2026 · ~110 nm · 7 ночей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5836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B: если прогноз портится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868680"/>
            <a:ext cx="1463040" cy="3657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не воевать с ветром. Лишняя ночь в защищённой бухте — хороший план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5440680" cy="2240280"/>
          </a:xfrm>
          <a:prstGeom prst="rect">
            <a:avLst/>
          </a:prstGeom>
          <a:solidFill>
            <a:srgbClr val="F4F1E8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88720"/>
            <a:ext cx="868680" cy="22402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88720"/>
            <a:ext cx="86868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Д4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13258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Мелтеми усилился перед Д4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508760" y="1737360"/>
            <a:ext cx="42976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Датчи: Орхание → Бенджик (2.8 nm) — узкий фьорд, защита почти от всех ветров, ресторанные причалы → далее Бозуккале/Серче. Неделя превращается в чистый каркас Бозбурун (~54 nm, ~8.7 ч) с двумя-тремя ночами в любимых бухтах.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5440680" cy="2240280"/>
          </a:xfrm>
          <a:prstGeom prst="rect">
            <a:avLst/>
          </a:prstGeom>
          <a:solidFill>
            <a:srgbClr val="F4F1E8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188720"/>
            <a:ext cx="868680" cy="22402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188720"/>
            <a:ext cx="86868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Д5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086600" y="13258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S/SE ветер в районе Д5–Д6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086600" y="1737360"/>
            <a:ext cx="42976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Серче Лиманы вместо Бозуккале (полностью закрытая); из Серче выход в обе стороны.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5440680" cy="2240280"/>
          </a:xfrm>
          <a:prstGeom prst="rect">
            <a:avLst/>
          </a:prstGeom>
          <a:solidFill>
            <a:srgbClr val="F4F1E8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611880"/>
            <a:ext cx="868680" cy="22402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611880"/>
            <a:ext cx="86868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08760" y="37490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Книдос недоступен (S/W ветер)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508760" y="4160520"/>
            <a:ext cx="42976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Датча → Бозуккале напрямую (14.8 nm, 2.4 ч) — без потери структуры недели.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26480" y="3611880"/>
            <a:ext cx="5440680" cy="2240280"/>
          </a:xfrm>
          <a:prstGeom prst="rect">
            <a:avLst/>
          </a:prstGeom>
          <a:solidFill>
            <a:srgbClr val="F4F1E8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3611880"/>
            <a:ext cx="868680" cy="22402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3611880"/>
            <a:ext cx="86868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86600" y="37490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плохо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086600" y="4160520"/>
            <a:ext cx="42976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Всесезонные убежища: Серче Лиманы, Бозуккале, Датча Марина, Бенджик, Мармарис — в любой точке маршрута ≤ 2 часов. Возврат в Мармарис из Турунча — 5 миль даже при неудачной пятнице.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080760"/>
            <a:ext cx="11091672" cy="365760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6089904"/>
            <a:ext cx="10725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по худшему сценарию из двух моделей (ECMWF + GFS) — за 48 ч до каждого длинного перехода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6583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Мармарис · 26.09 → 03.10.2026 · ~110 nm · 7 ночей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5836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Стоянки: защита, глубины, сервис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868680"/>
            <a:ext cx="1463040" cy="3657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Всесезонные убежища на маршруте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2286000"/>
                <a:gridCol w="4050792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9F1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Стоянка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9F1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Дно / глубина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9F1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Защита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9F1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Сервис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3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Чифтлик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песок, 5–6 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хорошая от S/W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ресторан-причал, мууринги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Сёют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якорь + концы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очень хорошая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рестораны на воде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Селимие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песок 4–8 м / причалы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хорошая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рестораны, вода у причалов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Орхание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песок 3–6 м; Martı Marina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хорошая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марина (вода/эл-во), Kızkumu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Бенджик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песок/трава 3–6 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отличная (фьорд)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ресторанных причала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Дирсек Бюкю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песок 3–3.5 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хорошая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причал ~17 яхт, 5 муурингов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Бозуккале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якорь/причал ~4 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отличная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муурингов, генератор, руины Loryma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Серче Лиманы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якорь/буй ресторана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полностью закрытая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ресторан; без воды/эл-ва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Датча Марина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марина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полная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топливо, вода, эл-во, сервис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Книдос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открытый рейд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ограниченная (штиль)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руины; дневной заход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Турунч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песок 5–8 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хорошая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посёлок, рестораны, топливо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897880"/>
            <a:ext cx="11091672" cy="502920"/>
          </a:xfrm>
          <a:prstGeom prst="rect">
            <a:avLst/>
          </a:prstGeom>
          <a:solidFill>
            <a:srgbClr val="F4F1E8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594360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 швартовки (Турция): </a:t>
            </a:r>
            <a:pPr indent="0" marL="0">
              <a:buNone/>
            </a:pPr>
            <a:r>
              <a:rPr lang="en-US" sz="10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med-mooring — якорь с носа, кормой к берегу/причалу, концы на кольца или монолитные скалы. Никогда не привязывать концы к деревьям (губит растительность). Ресторанный буй/причал часто бесплатен при ужине — подтвердить мин. заказ, воду/электричество, условия отмены.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6583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Мармарис · 26.09 → 03.10.2026 · ~110 nm · 7 ночей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836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 стоянки по-турецки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868680"/>
            <a:ext cx="1463040" cy="3657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отличает этот регион от Средиземноморья и Эгеи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5440680" cy="1097280"/>
          </a:xfrm>
          <a:prstGeom prst="rect">
            <a:avLst/>
          </a:prstGeom>
          <a:solidFill>
            <a:srgbClr val="F4F1E8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37160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280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Med-mooring — норма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16002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Якорь с носа, кормой к берегу/причалу. Длинный кормовой конец обязателен. Это не ошибка — это турецкий стандарт.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5440680" cy="1097280"/>
          </a:xfrm>
          <a:prstGeom prst="rect">
            <a:avLst/>
          </a:prstGeom>
          <a:solidFill>
            <a:srgbClr val="F4F1E8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37160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20840" y="1280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Ресторанные причалы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20840" y="16002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или дёшево, если ужинаешь в этом ресторане. Подтвердить мин. заказ, воду/электричество, условия отмены до швартовки.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377440"/>
            <a:ext cx="5440680" cy="1097280"/>
          </a:xfrm>
          <a:prstGeom prst="rect">
            <a:avLst/>
          </a:prstGeom>
          <a:solidFill>
            <a:srgbClr val="F4F1E8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256032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2468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Буи ресторана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" y="27889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буёв — частная собственность ресторана. Швартовка только с разрешения, обычно привязана к ужину.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26480" y="2377440"/>
            <a:ext cx="5440680" cy="1097280"/>
          </a:xfrm>
          <a:prstGeom prst="rect">
            <a:avLst/>
          </a:prstGeom>
          <a:solidFill>
            <a:srgbClr val="F4F1E8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256032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20840" y="2468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Каменистый берег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20840" y="27889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Монолитные скалы и каменные кольца — основные точки крепления. Концы на деревьях запрещены (губят растительность) и опасны.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566160"/>
            <a:ext cx="5440680" cy="1097280"/>
          </a:xfrm>
          <a:prstGeom prst="rect">
            <a:avLst/>
          </a:prstGeom>
          <a:solidFill>
            <a:srgbClr val="F4F1E8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374904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43000" y="3657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Ночью — якорный аларм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3000" y="39776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Двигатель в готовности, визуальный контроль каждые 30–60 мин. COLREG 30: круговой белый огонь на якоре ночью.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26480" y="3566160"/>
            <a:ext cx="5440680" cy="1097280"/>
          </a:xfrm>
          <a:prstGeom prst="rect">
            <a:avLst/>
          </a:prstGeom>
          <a:solidFill>
            <a:srgbClr val="F4F1E8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63640" y="374904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20840" y="3657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горных бухтах — катабатики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20840" y="39776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Селимие, Бозбурун, Бенджик: ночью возможны сильные порывы с гор. Якорь длиннее, готовность к манёвру.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754880"/>
            <a:ext cx="5440680" cy="1097280"/>
          </a:xfrm>
          <a:prstGeom prst="rect">
            <a:avLst/>
          </a:prstGeom>
          <a:solidFill>
            <a:srgbClr val="F4F1E8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5800" y="493776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4937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143000" y="4846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Экипаж 2 человека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43000" y="51663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Жёсткое разделение ролей в манёвре (руль/концы), ручные сигналы вместо крика. Второй обязан уметь остановить лодку.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26480" y="4754880"/>
            <a:ext cx="5440680" cy="1097280"/>
          </a:xfrm>
          <a:prstGeom prst="rect">
            <a:avLst/>
          </a:prstGeom>
          <a:solidFill>
            <a:srgbClr val="F4F1E8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63640" y="493776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3" name="Text 41"/>
          <p:cNvSpPr/>
          <p:nvPr/>
        </p:nvSpPr>
        <p:spPr>
          <a:xfrm>
            <a:off x="6263640" y="4937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720840" y="4846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Экипаж 4 человека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720840" y="51663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Манёвры заметно проще, можно ставить на два береговых конца. Свободнее со сноркелингом и береговыми вылазками.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6583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Мармарис · 26.09 → 03.10.2026 · ~110 nm · 7 ночей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338560" y="65836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и экология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868680"/>
            <a:ext cx="1463040" cy="3657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сохранить для следующих поколений яхтсменов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5486400" cy="5212080"/>
          </a:xfrm>
          <a:prstGeom prst="rect">
            <a:avLst/>
          </a:prstGeom>
          <a:solidFill>
            <a:srgbClr val="F4F1E8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80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Экология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512064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Posidonia (морская трава).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якориться над лугами — ущерб на десятилетия. Только песчаные пятна и официальные буи.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Мусор.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на берег. В открытом море — никаких сбросов.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Тихие часы.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Генератор/музыка ночью в бухтах — плохой тон. Стоянки у деревень после 23:00 = тишина.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Caretta caretta.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Датча — главный район гнездования (~65% национального). В конце сентября основной сезон закончен, но возможны вылупления. Ночью не светить фонарями в сторону пляжа, не трогать черепашек, не ходить по огороженным кладкам.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188720"/>
            <a:ext cx="5376672" cy="5212080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и формальности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1691640"/>
            <a:ext cx="502920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FC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Турция.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Сими и Родос видны с палубы, но не заходим — пограничные формальности, Transit Log non-EU, E-Tepai €300.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FC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Log.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Оформляет чартерная компания (60–100 €). Обязателен для плавания.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FC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Card (Mavi Kart).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сдачи сточных вод. Запросить станцию pump-out.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FC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COLREG 30.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Ночью на якоре — круговой белый огонь.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FC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Катабатики.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горных бухтах (Селимие, Бозбурун) ночью возможны сильные порывы с гор.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FC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Граница рядом.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Symi и Rhodes видны с палубы — не заходим. Условие задачи + пограничные формальности.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6583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Мармарис · 26.09 → 03.10.2026 · ~110 nm · 7 ночей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5836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Чек-лист чартерной компании и бюджет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868680"/>
            <a:ext cx="1463040" cy="3657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оператору при заявке + расходы сверх чартера (экипаж 2)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6858000" cy="5212080"/>
          </a:xfrm>
          <a:prstGeom prst="rect">
            <a:avLst/>
          </a:prstGeom>
          <a:solidFill>
            <a:srgbClr val="F4F1E8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8016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Чек-лист при заявке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649224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чек-ина/чек-аута; можно ли остаться на борту в последнюю ночь
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Депозит 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2 000–3 500 €, пре-авторизация кредитной картой, порядок возврата
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Log — кто оформляет и входит ли в пакет (обязателен)
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Card (Mavi Kart) — учёт сточных вод, где pump-out
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Топливо — полный бак на старте и возврате, где заправка, нужен ли чек
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Комплектация безопасности + телефон агента 24/7, рабочий VHF базы
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Письменный перечень того, что входит в цену: уборка, бельё, мотор, Wi-Fi
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Лицензия шкипера: ICC + VHF; для внешней Датчи — Große Fahrt (выход за 12-мильную зону)
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 судна и последний рефит (у деревянных гулетов 1990-х бывают проблемы)
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Политика отмены при шторме (стандартно: перенос дат или 100% при отмене за 5+ дней)
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Согласие капитана на длинный переход вдоль Бозбуруна в день 4 (это ваше право по контракту, но лучше заранее обсудить)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635240" y="1188720"/>
            <a:ext cx="4005072" cy="5212080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10" name="Text 8"/>
          <p:cNvSpPr/>
          <p:nvPr/>
        </p:nvSpPr>
        <p:spPr>
          <a:xfrm>
            <a:off x="781812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сверх чартера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1812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Экипаж 2, ориентир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18120" y="2103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Топливо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012680" y="21031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60–120 л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18120" y="2606040"/>
            <a:ext cx="3657600" cy="9144"/>
          </a:xfrm>
          <a:prstGeom prst="rect">
            <a:avLst/>
          </a:prstGeom>
          <a:solidFill>
            <a:srgbClr val="1B3852"/>
          </a:solidFill>
          <a:ln/>
        </p:spPr>
      </p:sp>
      <p:sp>
        <p:nvSpPr>
          <p:cNvPr id="15" name="Text 13"/>
          <p:cNvSpPr/>
          <p:nvPr/>
        </p:nvSpPr>
        <p:spPr>
          <a:xfrm>
            <a:off x="7818120" y="26974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Еда/рестораны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012680" y="26974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400–600 €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18120" y="3200400"/>
            <a:ext cx="3657600" cy="9144"/>
          </a:xfrm>
          <a:prstGeom prst="rect">
            <a:avLst/>
          </a:prstGeom>
          <a:solidFill>
            <a:srgbClr val="1B3852"/>
          </a:solidFill>
          <a:ln/>
        </p:spPr>
      </p:sp>
      <p:sp>
        <p:nvSpPr>
          <p:cNvPr id="18" name="Text 16"/>
          <p:cNvSpPr/>
          <p:nvPr/>
        </p:nvSpPr>
        <p:spPr>
          <a:xfrm>
            <a:off x="7818120" y="3291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Марины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012680" y="32918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0–200 €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18120" y="3794760"/>
            <a:ext cx="3657600" cy="9144"/>
          </a:xfrm>
          <a:prstGeom prst="rect">
            <a:avLst/>
          </a:prstGeom>
          <a:solidFill>
            <a:srgbClr val="1B3852"/>
          </a:solidFill>
          <a:ln/>
        </p:spPr>
      </p:sp>
      <p:sp>
        <p:nvSpPr>
          <p:cNvPr id="21" name="Text 19"/>
          <p:cNvSpPr/>
          <p:nvPr/>
        </p:nvSpPr>
        <p:spPr>
          <a:xfrm>
            <a:off x="7818120" y="3886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Log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012680" y="38862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60–100 €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18120" y="4389120"/>
            <a:ext cx="3657600" cy="9144"/>
          </a:xfrm>
          <a:prstGeom prst="rect">
            <a:avLst/>
          </a:prstGeom>
          <a:solidFill>
            <a:srgbClr val="1B3852"/>
          </a:solidFill>
          <a:ln/>
        </p:spPr>
      </p:sp>
      <p:sp>
        <p:nvSpPr>
          <p:cNvPr id="24" name="Text 22"/>
          <p:cNvSpPr/>
          <p:nvPr/>
        </p:nvSpPr>
        <p:spPr>
          <a:xfrm>
            <a:off x="7818120" y="44805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Трансфер Dalaman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012680" y="44805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~50 €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18120" y="4983480"/>
            <a:ext cx="3657600" cy="9144"/>
          </a:xfrm>
          <a:prstGeom prst="rect">
            <a:avLst/>
          </a:prstGeom>
          <a:solidFill>
            <a:srgbClr val="1B3852"/>
          </a:solidFill>
          <a:ln/>
        </p:spPr>
      </p:sp>
      <p:sp>
        <p:nvSpPr>
          <p:cNvPr id="27" name="Shape 25"/>
          <p:cNvSpPr/>
          <p:nvPr/>
        </p:nvSpPr>
        <p:spPr>
          <a:xfrm>
            <a:off x="7818120" y="5349240"/>
            <a:ext cx="3657600" cy="9144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8" name="Text 26"/>
          <p:cNvSpPr/>
          <p:nvPr/>
        </p:nvSpPr>
        <p:spPr>
          <a:xfrm>
            <a:off x="8001000" y="5440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Наличные лиры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01000" y="57607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A3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деревнях карты принимают не везде. Банкоматы есть в Мармарисе, Датче и Бозбуруне.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6583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Мармарис · 26.09 → 03.10.2026 · ~110 nm · 7 ночей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5836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619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4" name="Shape 2"/>
          <p:cNvSpPr/>
          <p:nvPr/>
        </p:nvSpPr>
        <p:spPr>
          <a:xfrm>
            <a:off x="3399222" y="4638132"/>
            <a:ext cx="36576" cy="36576"/>
          </a:xfrm>
          <a:prstGeom prst="ellipse">
            <a:avLst/>
          </a:prstGeom>
          <a:solidFill>
            <a:srgbClr val="E8A33D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639120" y="4722243"/>
            <a:ext cx="36576" cy="36576"/>
          </a:xfrm>
          <a:prstGeom prst="ellipse">
            <a:avLst/>
          </a:prstGeom>
          <a:solidFill>
            <a:srgbClr val="E8A33D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718114" y="5009511"/>
            <a:ext cx="36576" cy="36576"/>
          </a:xfrm>
          <a:prstGeom prst="ellipse">
            <a:avLst/>
          </a:prstGeom>
          <a:solidFill>
            <a:srgbClr val="E8A33D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184542" y="4589580"/>
            <a:ext cx="36576" cy="36576"/>
          </a:xfrm>
          <a:prstGeom prst="ellipse">
            <a:avLst/>
          </a:prstGeom>
          <a:solidFill>
            <a:srgbClr val="E8A33D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999154" y="6396563"/>
            <a:ext cx="36576" cy="36576"/>
          </a:xfrm>
          <a:prstGeom prst="ellipse">
            <a:avLst/>
          </a:prstGeom>
          <a:solidFill>
            <a:srgbClr val="E8A33D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303326" y="6095011"/>
            <a:ext cx="36576" cy="36576"/>
          </a:xfrm>
          <a:prstGeom prst="ellipse">
            <a:avLst/>
          </a:prstGeom>
          <a:solidFill>
            <a:srgbClr val="E8A33D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225359" y="3745471"/>
            <a:ext cx="36576" cy="36576"/>
          </a:xfrm>
          <a:prstGeom prst="ellipse">
            <a:avLst/>
          </a:prstGeom>
          <a:solidFill>
            <a:srgbClr val="E8A33D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671762" y="3755907"/>
            <a:ext cx="36576" cy="36576"/>
          </a:xfrm>
          <a:prstGeom prst="ellipse">
            <a:avLst/>
          </a:prstGeom>
          <a:solidFill>
            <a:srgbClr val="E8A33D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858959" y="3968531"/>
            <a:ext cx="36576" cy="36576"/>
          </a:xfrm>
          <a:prstGeom prst="ellipse">
            <a:avLst/>
          </a:prstGeom>
          <a:solidFill>
            <a:srgbClr val="E8A33D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266221" y="1242056"/>
            <a:ext cx="36576" cy="36576"/>
          </a:xfrm>
          <a:prstGeom prst="ellipse">
            <a:avLst/>
          </a:prstGeom>
          <a:solidFill>
            <a:srgbClr val="E8A33D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343411" y="4421758"/>
            <a:ext cx="36576" cy="36576"/>
          </a:xfrm>
          <a:prstGeom prst="ellipse">
            <a:avLst/>
          </a:prstGeom>
          <a:solidFill>
            <a:srgbClr val="E8A33D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447403" y="3236579"/>
            <a:ext cx="36576" cy="36576"/>
          </a:xfrm>
          <a:prstGeom prst="ellipse">
            <a:avLst/>
          </a:prstGeom>
          <a:solidFill>
            <a:srgbClr val="E8A33D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62006" y="288711"/>
            <a:ext cx="36576" cy="36576"/>
          </a:xfrm>
          <a:prstGeom prst="ellipse">
            <a:avLst/>
          </a:prstGeom>
          <a:solidFill>
            <a:srgbClr val="E8A33D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231182" y="5540461"/>
            <a:ext cx="36576" cy="36576"/>
          </a:xfrm>
          <a:prstGeom prst="ellipse">
            <a:avLst/>
          </a:prstGeom>
          <a:solidFill>
            <a:srgbClr val="E8A33D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469815" y="4960742"/>
            <a:ext cx="36576" cy="36576"/>
          </a:xfrm>
          <a:prstGeom prst="ellipse">
            <a:avLst/>
          </a:prstGeom>
          <a:solidFill>
            <a:srgbClr val="E8A33D">
              <a:alpha val="3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55098" y="90284"/>
            <a:ext cx="36576" cy="36576"/>
          </a:xfrm>
          <a:prstGeom prst="ellipse">
            <a:avLst/>
          </a:prstGeom>
          <a:solidFill>
            <a:srgbClr val="E8A33D">
              <a:alpha val="3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823574" y="2089818"/>
            <a:ext cx="36576" cy="36576"/>
          </a:xfrm>
          <a:prstGeom prst="ellipse">
            <a:avLst/>
          </a:prstGeom>
          <a:solidFill>
            <a:srgbClr val="E8A33D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754338" y="2112843"/>
            <a:ext cx="36576" cy="36576"/>
          </a:xfrm>
          <a:prstGeom prst="ellipse">
            <a:avLst/>
          </a:prstGeom>
          <a:solidFill>
            <a:srgbClr val="E8A33D">
              <a:alpha val="3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693404" y="567220"/>
            <a:ext cx="36576" cy="36576"/>
          </a:xfrm>
          <a:prstGeom prst="ellipse">
            <a:avLst/>
          </a:prstGeom>
          <a:solidFill>
            <a:srgbClr val="E8A33D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514942" y="4064430"/>
            <a:ext cx="36576" cy="36576"/>
          </a:xfrm>
          <a:prstGeom prst="ellipse">
            <a:avLst/>
          </a:prstGeom>
          <a:solidFill>
            <a:srgbClr val="E8A33D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802087" y="5031844"/>
            <a:ext cx="36576" cy="36576"/>
          </a:xfrm>
          <a:prstGeom prst="ellipse">
            <a:avLst/>
          </a:prstGeom>
          <a:solidFill>
            <a:srgbClr val="E8A33D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242048" y="5476309"/>
            <a:ext cx="36576" cy="36576"/>
          </a:xfrm>
          <a:prstGeom prst="ellipse">
            <a:avLst/>
          </a:prstGeom>
          <a:solidFill>
            <a:srgbClr val="E8A33D">
              <a:alpha val="3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55861" y="542856"/>
            <a:ext cx="36576" cy="36576"/>
          </a:xfrm>
          <a:prstGeom prst="ellipse">
            <a:avLst/>
          </a:prstGeom>
          <a:solidFill>
            <a:srgbClr val="E8A33D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1418715" y="873389"/>
            <a:ext cx="36576" cy="36576"/>
          </a:xfrm>
          <a:prstGeom prst="ellipse">
            <a:avLst/>
          </a:prstGeom>
          <a:solidFill>
            <a:srgbClr val="E8A33D">
              <a:alpha val="3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629081" y="4352637"/>
            <a:ext cx="36576" cy="36576"/>
          </a:xfrm>
          <a:prstGeom prst="ellipse">
            <a:avLst/>
          </a:prstGeom>
          <a:solidFill>
            <a:srgbClr val="E8A33D">
              <a:alpha val="3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2743200"/>
            <a:ext cx="146304" cy="13716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2651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Попутного ветра</a:t>
            </a:r>
            <a:endParaRPr lang="en-US" sz="6000" dirty="0"/>
          </a:p>
        </p:txBody>
      </p:sp>
      <p:sp>
        <p:nvSpPr>
          <p:cNvPr id="31" name="Text 29"/>
          <p:cNvSpPr/>
          <p:nvPr/>
        </p:nvSpPr>
        <p:spPr>
          <a:xfrm>
            <a:off x="868680" y="35661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семь футов под килем!</a:t>
            </a:r>
            <a:endParaRPr lang="en-US" sz="4800" dirty="0"/>
          </a:p>
        </p:txBody>
      </p:sp>
      <p:sp>
        <p:nvSpPr>
          <p:cNvPr id="32" name="Text 30"/>
          <p:cNvSpPr/>
          <p:nvPr/>
        </p:nvSpPr>
        <p:spPr>
          <a:xfrm>
            <a:off x="868680" y="4937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готов. Команда — формируется. Книдос ждёт.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686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 · 14.08.2026 · на основе 8 research-сессий 06–10.08.2026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26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43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6858000" y="0"/>
            <a:ext cx="5330952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8288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КУЛЬТУРНЫЕ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548640" y="26517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ОСТАНОВКИ</a:t>
            </a:r>
            <a:endParaRPr lang="en-US" sz="5600" dirty="0"/>
          </a:p>
        </p:txBody>
      </p:sp>
      <p:sp>
        <p:nvSpPr>
          <p:cNvPr id="7" name="Shape 4"/>
          <p:cNvSpPr/>
          <p:nvPr/>
        </p:nvSpPr>
        <p:spPr>
          <a:xfrm>
            <a:off x="548640" y="3611880"/>
            <a:ext cx="146304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794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мест на маршруте · от Книдоса до Мармариса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44348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культурный акцент — Книдос: дорийский город на мысе Датча,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театр, храм Афродиты Праксителя, схождение двух морей (Эгейское и Средиземное).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26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Книдос — античный полис на мысе Датча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868680"/>
            <a:ext cx="1463040" cy="3657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5 (чт 01.10) · 45 nm маршрута · 2–3 часа на осмотр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1887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Дорийский город IV в. до н.э.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499616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из шести главных городов Дорийского Гексаполиса. Процветал за счёт торговли и знаменитого храма Афродиты. Упадок после разрушения землетрясением, окончательно покинут в VII веке н.э.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1488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Храм Афродиты Праксителя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459736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Стоял на мысе Триопион — в античности был виден с палубы кораблей. Здесь находилась знаменитая статуя Афродиты Книдской работы Праксителя — первая в истории скульптура обнажённой богини. Оригинал утрачен; копия экспонируется в Стамбульском археологическом музее.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154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1089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Театр на 5 000 мест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419856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из древнейших театров Анатолии (IV в. до н.э.), вырублен в склоне холма. Хорошо сохранились первые 12 рядов. Акустика действует до сих пор.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114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40690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древние гавани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4379976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Большая — военная (сейчас сухая из-за тектонического поднятия берега на ~3 м за 2000 лет). Малая — торговая, частично под водой. Со стороны мыса Триопион видно характерное «схождение двух морей» — Эгейского и Средиземного (Книдский «аквариум», одно из главных географических чудес Турции).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507492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074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50292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 посещения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5340096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Экскурсия трансфером: из Датчи или Бозуккале микроавтобусом, 90 мин по горной дороге. Вход платный (~€5). Гид в марине рекомендуется. С собой: вода, крем, трекинговая обувь (каменистые тропы). На осмотр 2–3 часа.</a:t>
            </a:r>
            <a:endParaRPr lang="en-US" sz="10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0" y="1280160"/>
            <a:ext cx="3017520" cy="393192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8686800" y="5257800"/>
            <a:ext cx="3017520" cy="310896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28" name="Text 25"/>
          <p:cNvSpPr/>
          <p:nvPr/>
        </p:nvSpPr>
        <p:spPr>
          <a:xfrm>
            <a:off x="8732520" y="526694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Книдос · схождение Эгейского и Средиземного морей с мыса Триопион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0972800" y="61996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26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31" name="Text 28"/>
          <p:cNvSpPr/>
          <p:nvPr/>
        </p:nvSpPr>
        <p:spPr>
          <a:xfrm>
            <a:off x="365760" y="6583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Мармарис · 26.09 → 03.10.2026 · ~110 nm · 7 ночей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Лорима — эллинистическая крепость IV в. до н.э.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868680"/>
            <a:ext cx="1463040" cy="3657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5 (чт 01.10) · бухта Бозуккале · ночёвка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1887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Крепость Лорима (Loryma)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499616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Эллинистическая крепость IV в. до н.э. на вершине холма. Перекрывает узкий вход в бухту — одну из самых защищённых стоянок древней Карии. Сохранились мощные стены, башни и акрополь. Здесь в 412 г. до н.э. укрывался афинский флот, а в 394 г. до н.э. у стен Лоримы собиралась афинско-персидская эскадра Конона перед битвой при Книде (победой над Спартой).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23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3774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Бухта Бозуккале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688336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Глубокая защищённая бухта с бирюзовой водой. 8 мурингов + якорная стоянка (8–12 м, песок/водоросли). Генератор у причала, пресная вода по договорённости. Ресторан Sailors House — главная точка маршрута, рыба на гриле и вид на руины.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11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5661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Пешком наверх — 20 мин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877056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Тропа начинается за причалом, идёт через заросли маквиса и оливковую рощу. Подъём пологий, удобная обувь обязательна. С собой: вода, крем. С вершины — панорама бухты и в ясную погоду силуэт Родоса через пролив.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80060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800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47548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сюда не приходить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5065776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южном ветре (S/SE) бухта открыта. Если держится Сёрче-Лиманы или Бенджик — ночуйте там, а Лорима станет дневной остановкой. В остальные дни это самое защищённое место всего маршрута.</a:t>
            </a:r>
            <a:endParaRPr lang="en-US" sz="10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0" y="1280160"/>
            <a:ext cx="3017520" cy="393192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8686800" y="5257800"/>
            <a:ext cx="3017520" cy="310896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24" name="Text 21"/>
          <p:cNvSpPr/>
          <p:nvPr/>
        </p:nvSpPr>
        <p:spPr>
          <a:xfrm>
            <a:off x="8732520" y="526694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Бозуккале · крепость Лорима над бухтой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0972800" y="61996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26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27" name="Text 24"/>
          <p:cNvSpPr/>
          <p:nvPr/>
        </p:nvSpPr>
        <p:spPr>
          <a:xfrm>
            <a:off x="365760" y="6583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Мармарис · 26.09 → 03.10.2026 · ~110 nm · 7 ночей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Селимие — открыточная бухта с руинами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868680"/>
            <a:ext cx="1463040" cy="3657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3 (вт 29.09) · 1.1 ч от Сёют · ночёвка у воды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1887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Бухта Селимие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499616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Считается одной из самых красивых на полуострове Бозбурун. Окружена горами, защищена почти от всех ветров. Якорная стоянка + ресторанные причалы (бронировать к 14:00 — в сезон и на выходных тесно).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23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3774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Селимие (древний Hydas)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688336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 основан карийцами, позднее — греческая колония Гидас. Расцвет в эллинистический период. Сегодня сохранились остатки крепостной стены на холме и византийской башни. Большая часть руин затоплена при землетрясении, как и в Книдосе.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11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5661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Замок и монастырь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877056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восточном мысу — руины замка Османской эпохи и заброшенный греческий монастырь. Подъём 30 мин через оливковую рощу. На закате вид на весь залив Хисароню.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80060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800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47548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Ресторанная деревня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5065776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набережной — несколько рыбных таверн с причалами. Свежая рыба, мезе, тимьяновый мёд. Считается более спокойной альтернативой Бозбуруну: меньше яхт, тише вечером, та же рыба.</a:t>
            </a:r>
            <a:endParaRPr lang="en-US" sz="10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0" y="1280160"/>
            <a:ext cx="3017520" cy="393192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8686800" y="5257800"/>
            <a:ext cx="3017520" cy="310896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24" name="Text 21"/>
          <p:cNvSpPr/>
          <p:nvPr/>
        </p:nvSpPr>
        <p:spPr>
          <a:xfrm>
            <a:off x="8732520" y="526694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Селимие · закат над бухтой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0972800" y="61996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26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27" name="Text 24"/>
          <p:cNvSpPr/>
          <p:nvPr/>
        </p:nvSpPr>
        <p:spPr>
          <a:xfrm>
            <a:off x="365760" y="6583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Мармарис · 26.09 → 03.10.2026 · ~110 nm · 7 ночей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Kızkumu и Eski Datça — два характера Датчи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868680"/>
            <a:ext cx="1463040" cy="3657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3 (закат) и День 4 (после обеда) · природа + старый город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5486400" cy="5029200"/>
          </a:xfrm>
          <a:prstGeom prst="rect">
            <a:avLst/>
          </a:prstGeom>
          <a:solidFill>
            <a:srgbClr val="F4F1E8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88720"/>
            <a:ext cx="54864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716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Kızkumu · «Девичья коса»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7830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3, закат · Орхание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2148840"/>
            <a:ext cx="5120640" cy="1828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4069080"/>
            <a:ext cx="5120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Природное чудо. 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Песчаная коса длиной 600 м уходит от берега в море. По легенде — дочь местного богача полюбила простого пастуха; отец запретил встречи. Девушка наполняла кувшины песком и шла по воде к любимому — пока не утонула на глазах у возлюбленного.
</a:t>
            </a:r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делать. 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Прогулка по воде «пешком» по косе (глубина по щиколотку), купание, закат с горой Kızkumu за спиной. Лучшее время: за час до заката, когда коса ещё сухая, а свет мягкий.
</a:t>
            </a:r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Практика. 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Подход с воды — визуальный контроль глубин. Стоянка в Орхание (Martı Marina — вода/эл-во) или на якоре. Рестораны на набережной: рыба, мезе, тимьяновый мёд.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263640" y="1188720"/>
            <a:ext cx="5376672" cy="5029200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13" name="Shape 10"/>
          <p:cNvSpPr/>
          <p:nvPr/>
        </p:nvSpPr>
        <p:spPr>
          <a:xfrm>
            <a:off x="6263640" y="1188720"/>
            <a:ext cx="5376672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Text 11"/>
          <p:cNvSpPr/>
          <p:nvPr/>
        </p:nvSpPr>
        <p:spPr>
          <a:xfrm>
            <a:off x="6446520" y="13716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Eski Datça · «Старая Датча»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46520" y="1783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4, после обеда · трансфер из Датча Марины</a:t>
            </a:r>
            <a:endParaRPr lang="en-US" sz="1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46520" y="2148840"/>
            <a:ext cx="5029200" cy="18288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46520" y="406908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C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Другая Турция. 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Греческая деревня, оставленная жителями во время обмена населением 1923 года. Каменные дома, мощёные улочки, бугенвиллеи. Здесь нетронутая атмосфера средиземноморского городка, каким он был 100 лет назад.
</a:t>
            </a:r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C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смотреть. 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Церковь Святого Стефана (сейчас мечеть, но фрески частично сохранились). Греческий фонтан в центре площади. Ремесленные лавки: керамика, оливковое мыло, миндаль в шоколаде.
</a:t>
            </a:r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C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Практика. 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Трансфер из Датча Марины — 20 мин на микроавтобусе (~€5) или такси. На осмотр 2–3 часа. Идеально после обеда, до захода солнца. Ужин в одном из кафе на площади.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0972800" y="61996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26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20" name="Text 16"/>
          <p:cNvSpPr/>
          <p:nvPr/>
        </p:nvSpPr>
        <p:spPr>
          <a:xfrm>
            <a:off x="365760" y="6583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Мармарис · 26.09 → 03.10.2026 · ~110 nm · 7 ночей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Мармарис · крепость Сулеймана и старый город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868680"/>
            <a:ext cx="1463040" cy="3657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0 (приезд) и День 7 (отъезд) · то, что легко пропустить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1887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Крепость Сулеймана Великолепного (1522)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499616"/>
            <a:ext cx="7589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Построена при осаде Родоса Сулейманом I перед походом на остров. Сегодня внутри — Музей археологии (находки из Книдоса, Лоримы, Селимие) и Этнографический музей (быт карийских и греческих деревень). Со смотровой площадки виден весь залив Мармарис, остров Клеопатры (Седир) и вход в залив Хисароню.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23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3774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Старый город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688336"/>
            <a:ext cx="7589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Караван-сарай, мечеть Ibrahim Aga (1789), фонтан Сулеймана. Узкие улочки между домами османской эпохи, магазины специй, кожа, керамика. Вечером — бары и рестораны на набережной с видом на яхты.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11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5661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Часовня Святого Николая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877056"/>
            <a:ext cx="7589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холме у марины — остатки византийской часовни, где, по преданию, останавливался апостол Павел на пути в Рим. Небольшая, но в ясный день видно руины и фундамент.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80060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800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47548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5065776"/>
            <a:ext cx="7589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0 (после чек-ина): 2 часа на крепость + прогулку по старому городу до ужина. День 7 (после чекаута): 2–3 часа, багаж — в камеру хранения марины. Трансфер в аэропорт Даламан — 1.5 часа, выезжать за 3 часа до вылета.</a:t>
            </a:r>
            <a:endParaRPr lang="en-US" sz="10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0" y="1280160"/>
            <a:ext cx="3017520" cy="393192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8686800" y="5257800"/>
            <a:ext cx="3017520" cy="310896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24" name="Text 21"/>
          <p:cNvSpPr/>
          <p:nvPr/>
        </p:nvSpPr>
        <p:spPr>
          <a:xfrm>
            <a:off x="8732520" y="526694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Мармарис · крепость Сулеймана над бухтой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0972800" y="61996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26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27" name="Text 24"/>
          <p:cNvSpPr/>
          <p:nvPr/>
        </p:nvSpPr>
        <p:spPr>
          <a:xfrm>
            <a:off x="365760" y="6583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Мармарис · 26.09 → 03.10.2026 · ~110 nm · 7 ночей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 посещений: время, вход, логистика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868680"/>
            <a:ext cx="1463040" cy="3657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Куда успеем, куда нет, что вынести на берег</a:t>
            </a:r>
            <a:endParaRPr lang="en-US" sz="11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22960"/>
                <a:gridCol w="1463040"/>
                <a:gridCol w="1188720"/>
                <a:gridCol w="914400"/>
                <a:gridCol w="432511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9F1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Объект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9F1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День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9F1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Тип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9F1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Время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9F1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Вход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9F1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 добраться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Книдос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Античность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ч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~€5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Трансфер из Датча (90 мин)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Лорима / Бозуккале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Средневековье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1.5–2 ч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Бесплатно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мин пешком от причала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Eski Datça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Этнография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ч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Бесплатно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Такси/бас из Датча Марины (20 мин)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Kızkumu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Д3 веч.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Природа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1.5–2 ч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Бесплатно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Пешком от Орхание (10 мин)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Селимие (замок)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Д3 утр.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Античность + осман.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1–1.5 ч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Бесплатно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Пешком от причала (30 мин)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Мармарис (крепость)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Д0 / Д7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Осман. + музеи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ч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~€5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Пешком от марины (10 мин)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Датча (набережная)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Д4 веч.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Совр. деревня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ч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Бесплатно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Пешком от марины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434840"/>
            <a:ext cx="3657600" cy="1920240"/>
          </a:xfrm>
          <a:prstGeom prst="rect">
            <a:avLst/>
          </a:prstGeom>
          <a:solidFill>
            <a:srgbClr val="F4F1E8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4526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Что вынести на берег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4892040"/>
            <a:ext cx="3291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5 (Книдос).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Трансфер из Датчи или Бозуккале. Запас воды, крем, трекинговая обувь.
</a:t>
            </a:r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4 (Eski Datça).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Лучше после обеда — нет толп и жары, успеете до заката.
</a:t>
            </a:r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3 (Kızkumu).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Идти за час до заката — свет лучший, идти можно «по воде».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434840" y="4434840"/>
            <a:ext cx="3657600" cy="1920240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11" name="Text 8"/>
          <p:cNvSpPr/>
          <p:nvPr/>
        </p:nvSpPr>
        <p:spPr>
          <a:xfrm>
            <a:off x="4617720" y="4526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Сколько всего времени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617720" y="49377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10–13 ч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4617720" y="56235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все культурные объекты суммарно. Вписывается в «после обеда» окна каждого дня без потери ходового времени.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321040" y="4434840"/>
            <a:ext cx="3319272" cy="19202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5" name="Text 12"/>
          <p:cNvSpPr/>
          <p:nvPr/>
        </p:nvSpPr>
        <p:spPr>
          <a:xfrm>
            <a:off x="8503920" y="4526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5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🎒 Что взять на берег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503920" y="4892040"/>
            <a:ext cx="3017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3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Трекинговая обувь (Книдос, Лорима, замок Селимие)
</a:t>
            </a:r>
            <a:pPr indent="0" marL="0">
              <a:buNone/>
            </a:pPr>
            <a:r>
              <a:rPr lang="en-US" sz="950" dirty="0">
                <a:solidFill>
                  <a:srgbClr val="5A3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Головной убор + вода 1 л
</a:t>
            </a:r>
            <a:pPr indent="0" marL="0">
              <a:buNone/>
            </a:pPr>
            <a:r>
              <a:rPr lang="en-US" sz="950" dirty="0">
                <a:solidFill>
                  <a:srgbClr val="5A3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Крем SPF 30+, поляриз. очки
</a:t>
            </a:r>
            <a:pPr indent="0" marL="0">
              <a:buNone/>
            </a:pPr>
            <a:r>
              <a:rPr lang="en-US" sz="950" dirty="0">
                <a:solidFill>
                  <a:srgbClr val="5A3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Наличные лиры (маленькие лавки)
</a:t>
            </a:r>
            <a:pPr indent="0" marL="0">
              <a:buNone/>
            </a:pPr>
            <a:r>
              <a:rPr lang="en-US" sz="950" dirty="0">
                <a:solidFill>
                  <a:srgbClr val="5A3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Пауэрбанк + оффлайн-карты Maps.me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0972800" y="61996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26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6583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Мармарис · 26.09 → 03.10.2026 · ~110 nm · 7 ночей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KOS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Мармарис: идеальная неделя под парусом</dc:title>
  <dc:subject>PptxGenJS Presentation</dc:subject>
  <dc:creator>Hermes research</dc:creator>
  <cp:lastModifiedBy>Hermes research</cp:lastModifiedBy>
  <cp:revision>1</cp:revision>
  <dcterms:created xsi:type="dcterms:W3CDTF">2026-08-14T09:43:50Z</dcterms:created>
  <dcterms:modified xsi:type="dcterms:W3CDTF">2026-08-14T09:43:50Z</dcterms:modified>
</cp:coreProperties>
</file>