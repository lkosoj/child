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606040"/>
            <a:ext cx="9144000" cy="2537460"/>
          </a:xfrm>
          <a:prstGeom prst="rect">
            <a:avLst/>
          </a:prstGeom>
          <a:solidFill>
            <a:srgbClr val="0B2438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880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Яхта вдвоём: Мармарис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749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операционный гайд от чек-ина до чек-аута. Неделя с 26 сентября, экипаж — два человека.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 · Турецкие правила · Роли экипажа · Манёвры · Безопасность · Быт · Чек-аут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внутри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2588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До поездки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56432" y="132588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Чек-ин и приёмка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234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132588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Турецкая специфика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6888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Экипаж из двух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46888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Ритм дня и ветер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35040" y="2377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246888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Манёвры: якорь и причал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61188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Безопасность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291840" y="3520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361188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Быт и provisioning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35040" y="3520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61188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Чек-аут и правила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уже выбран и здесь не обсуждается — только практика: как сделать неделю безопасной и в удовольствие.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недели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335024"/>
            <a:ext cx="914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3419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человека: шкипер с лицензией и небольшим опытом, второй номер — без опыта. Все манёвры рассчитаны на две пары рук.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91456" y="1335024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9743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Яхта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74336" y="1627632"/>
            <a:ext cx="3419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Монохул 10–12 м, bareboat-чартер. Чек-ин и чек-аут в Мармарисе, круизная скорость 6–6,5 узла.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118104"/>
            <a:ext cx="914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3063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" y="3410712"/>
            <a:ext cx="3419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26.09–03.10: днём 27–30 °C, вода 25–26 °C, полнолуние. Мелтеми угас, но дневные бризы реальны. Закат ~18:50.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1456" y="3118104"/>
            <a:ext cx="91440" cy="91440"/>
          </a:xfrm>
          <a:prstGeom prst="rect">
            <a:avLst/>
          </a:prstGeom>
          <a:solidFill>
            <a:srgbClr val="C0563B"/>
          </a:solidFill>
          <a:ln/>
        </p:spPr>
      </p:sp>
      <p:sp>
        <p:nvSpPr>
          <p:cNvPr id="18" name="Text 16"/>
          <p:cNvSpPr/>
          <p:nvPr/>
        </p:nvSpPr>
        <p:spPr>
          <a:xfrm>
            <a:off x="4974336" y="3063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принцип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74336" y="3410712"/>
            <a:ext cx="3419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Выходим утром, приходим до 15:00. Прогноз решает: нет уверенности — остаёмся в бухте. Дополнительная ночь = хороший план.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3154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23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ПЕРВЫЙ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поездки: документы и подготовка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и лицензия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поездки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 шкипера (IYT, RYA, SBF, SKS) — действующая и соответствующая размеру яхты.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оценивает не только корочку, но и опыт: подготовьте выписку из логбука (ориентир компаний — от 12 миль в роли капитана/экипажа).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Копии паспортов обоих членов экипажа — оператору не позднее чем за 30 дней.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list, копия лицензии шкипера, копия паспорта и подписанный договор — на transit log за 2 недели. Задержка = перенос выхода.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Страховка путешественника с покрытием яхтинга — не «офисный» полис.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VHF-сертификат спрашивают редко, но 16-й канал нужно знать: это канал бедствия и вызова.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и страховка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поездки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35024"/>
            <a:ext cx="914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627632"/>
            <a:ext cx="3419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Типично 2 000–3 500 € для монохула 10–12 м. Доп. оборудование (спинакер, динги, SUP) может добавлять к депозиту.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91456" y="1335024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627632"/>
            <a:ext cx="3419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Пре-авторизация на кредитной карте Visa/MasterCard. Дебетовые карты обычно не принимаются — проверьте заранее.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18104"/>
            <a:ext cx="914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" y="3063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покрывает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" y="3410712"/>
            <a:ext cx="3419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Повреждения, недостачу инвентаря, дозаправку топлива, уборку. Ущерб сверх депозита оплачивается отдельно.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3118104"/>
            <a:ext cx="91440" cy="91440"/>
          </a:xfrm>
          <a:prstGeom prst="rect">
            <a:avLst/>
          </a:prstGeom>
          <a:solidFill>
            <a:srgbClr val="C0563B"/>
          </a:solidFill>
          <a:ln/>
        </p:spPr>
      </p:sp>
      <p:sp>
        <p:nvSpPr>
          <p:cNvPr id="19" name="Text 17"/>
          <p:cNvSpPr/>
          <p:nvPr/>
        </p:nvSpPr>
        <p:spPr>
          <a:xfrm>
            <a:off x="4974336" y="3063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Уточнить в договоре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74336" y="3410712"/>
            <a:ext cx="3419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Размер, способ (cash/pre-auth), франшизу страховки, порядок и срок возврата после чек-аута.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log и Blue Card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поездки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35024"/>
            <a:ext cx="914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log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627632"/>
            <a:ext cx="34198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 официальный документ для каждого чартера в Турции. Обычно оформляет оператор и включает в пакет. Хранится на борту. При смене экипажа вносится запись, а не новый документ. Уточните у оператора: входит ли в пакет и кто подаёт документы.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91456" y="1335024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Card (Mavi Kart)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627632"/>
            <a:ext cx="34198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карта учёта сдачи сточных вод: на чипе фиксируются дата, объём и время pump-out. Контролируется портовыми властями на стоянках. Вопросы оператору: где станция сдачи и как организован учёт. Практика: не сливать чёрный бак в запрещённых зонах, вернуть яхту с пустым баком.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взять с собой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поездки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Обувь с немаркой (светлой) подошвой — обязательно на палубе.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Перчатки для работы с концами — обоим.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Налобные фонарики обоим: ночью в бухте без них никак.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Флис и лёгкая ветровка: вечера 20–22 °C, в бриз прохладно.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Солнцезащитный крем, кепка, очки с фиксирующим шнурком.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Пауэрбанк и автозарядка 12 В: розеток 220 В на якоре нет.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аптечка + таблетки от укачивания (проверить сонливость у шкипера!).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Бумажная карта района или планшет как резерв картплоттера.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и навигация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поездки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Navionics: скачать регион заранее — карты должны работать офлайн.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Windy (ECMWF + GFS) и Windguru: прогноз каждое утро перед выходом.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якорной тревоги: Anchor, Boat Sentry или Anchor Alert.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бронирование ресторанных причалов и буёв.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Номера береговой охраны, агента базы и страховой — на экран блокировки обоих телефонов.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Переводчик с турецким офлайн-пакетом — в деревнях английский ограничен.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прогноз смотрим на 2 дня вперёд, решение принимаем по худшему сценарию.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3154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23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ВТОРОЙ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Чек-ин: приёмка яхты</a:t>
            </a:r>
            <a:endParaRPr lang="en-US" sz="3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Чек-ин: когда и как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суббота 16:00–18:00 — точное время в договоре.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Поздний приезд (после 18:00): яхту могут оставить открытой, но полноценная приёмка — утром.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Яхта считается принятой только после фиксации состояния.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 — вместе с представителем базы, сверяясь с инвентарным листом.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находки и недостачи — сразу письменно в передаточный лист.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планируйте выход в день приёмки: первая ночь рядом с базой или в марине.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143000"/>
            <a:ext cx="342900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0" y="4626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Марина Мармариса — база чартера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Приёмка: корпус и паруса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и гелькоут: царапины, сколы, потёртости — сфотографировать в присутствии агента.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Леера, релинги, утки, стопора: люфты и повреждения.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Паруса: разрывы, заплаты, состояние швов и УФ-защиты на закрутке.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Якорная клюзка и роульс, закрутка стакселя, лебёдки шкотов.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Кранцы, швартовные концы, динги с веслами — сверить с инвентарным листом.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всё, что не зафиксировано при приёмке, при сдаче будет считаться вашей виной.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Приёмка: двигатель и системы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Двигатель: запуск, давление масла, зарядка, охлаждение — вода из выхлопа должна идти.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Реверс вперёд/назад — проверить у понтона, почувствовать prop-walk.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Якорная лебёдка: отработать отдачу и выборку цепи, запомнить марки метража. Без неё турецкие стоянки превращаются в кошмар.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Электроника: картплоттер, эхолот, автопилот, ходовые огни, VHF.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Помпы: электрическая и ручная трюмная — проверить обе.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Вода: напор из кранов, объём танков. Газ: где баллон и как перекрыть.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Топливный бак: полный — зафиксировать в акте (возврат тоже полный).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Приёмка: безопасность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Жилеты: два, вашего размера — примерить сразу, подогнать.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Спасательный круг или подкова, линь, аварийный трап.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Спасательный плот: срок освидетельствования.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Ракеты и сигнальные средства: срок годности.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Огнетушители: пломба и манометр в зелёной зоне.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Аптечка: комплектность; EPIRB если есть — как включить.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 спросить у агента: где всё лежит и как применяется.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Инструктаж на базе: что требовать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Двигатель: что делать при перегреве, где крыльчатка (импеллер).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Газ: как перекрыть баллон, что делать при запахе.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Туалет: что можно и нельзя смывать; как опорожнить чёрный бак.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Электрика: 12 В / 220 В, как заряжаются аккумуляторы.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Якорная лебёдка: аварийная отдача при отказе.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опасности и закрытые зоны района плавания.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канал VHF базы и телефон агента 24/7.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Рекомендуемая первая ночёвка.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Золотое правило приёмки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FDF3E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сомнительное — фотографируется при агенте. Дефект, не записанный при приёмке, при сдаче становится вашим дефектом.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Недостачи и повреждения — в передаточный лист, подписи обеих сторон.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топлива и воды — зафиксировать.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серию фото корпуса с четырёх сторон и палубы.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ночь: Чифтлик или Турунч рядом с базой — без ночного перехода.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3154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23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ТРЕТИЙ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Турецкая специфика</a:t>
            </a:r>
            <a:endParaRPr lang="en-US" sz="3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на воде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Турция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log хранится на борту и предъявляется при любой проверке.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Сдача сточных вод — на станциях марин; порядок учёта Blue Card уточнить у оператора.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Чёрный бак не сливать в море в запретных зонах; вернуть с пустым баком.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Мусор — только на берег: береговая охрана патрулирует, контроль реален.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Судовые документы и паспорта экипажа — в одном непромокаемом пакете.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рядом: Сыми и Родос видны с палубы, но это уже формальности, шенген и другой transit log. Только турецкие воды.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недели сверх чартера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Турция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35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2 000–3 500 €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Депозит: пре-авторизация на кредитной карте, возвращается при отсутствии повреждений.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35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~60–120 л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00600" y="1901952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 за неделю (full-to-full). В день — 1–3 часа работы двигателя.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9319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400–600 €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" y="3593592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Еда и рестораны на двоих: provisioning плюс ужины в бухтах.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39319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0–200 €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3593592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Марины: большинство ночей — якорь или ресторанные причалы (часто бесплатно при ужине).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Чаевые докхендам и мелкие сборы — держите наличные лиры: карты в деревнях принимают не везде.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Местные правила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Турция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привязывать концы к деревьям: местами запрещено и разрушает растительность. Только кольца и монолитные скальные выступы.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Буйки ресторанов: часто бесплатны при ужине — подтвердить минимальный заказ, воду/электричество и условия отмены.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Тонкие деревья, кусты и подвижные камни — ненадёжные точки для береговых концов.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вставать на якорь над морской травой там, где стоят знаки.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Тихие часы в бухтах: генераторы и музыка ночью — плохой тон и жалобы.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Купание у причалов запрещено — только с кормы на якоре или в стороне.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3154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23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ЧЕТВЁРТЫЙ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 из двух человек</a:t>
            </a:r>
            <a:endParaRPr lang="en-US" sz="3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ролей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35024"/>
            <a:ext cx="914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Шкипер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627632"/>
            <a:ext cx="34198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Руль и двигатель. Наблюдение за носом, кормой, соседями и сносом. Команды и тайминг манёвра. Решение по погоде — всегда за ним.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91456" y="1335024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номер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627632"/>
            <a:ext cx="34198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Якорь и цепь на носу. Кормовые концы и кранцы. Подача концов на берег. Камбуз, вода, якорная вахта по графику.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E7F0F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947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принцип: не пытаться делать всё одновременно. До манёвра — подготовка и договорённость. В манёвре каждый делает одну задачу.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Ручные сигналы вместо крика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шумом двигателя и лебёдки длинные команды теряются — договоритесь о жестах заранее.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Кулак = стоп. Ладонь вниз = держать. Рука вверх = выбирать. Рука вниз = травить.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Пальцы = расстояние до причала в метрах.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команда подтверждается повторением — не кивком, а словами.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фраза: «Канат в воде!» — рулевой немедленно в нейтраль.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DED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0690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Отработайте сигналы в первый день на тихой воде — это 15 минут, которые сэкономят нервы в каждом манёвре.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 безопасности новичка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Канат никогда не наматывать на руку и не держать петлёй — при рывке травма неизбежна.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стоять внутри разложенной бухты и на линии «конец — утка».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Ноги и одежда — вдали от цепи, лебёдки и винта.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за раз; позиция в каждом манёвре известна заранее.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палубе в свежий ветер и ночью — жилет и страховочный пояс.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прыгать с яхты на причал: концы подаются бросательным, человек — последним и только при спокойной воде.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должна уметь остановить лодку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DED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16152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опция, а страховка MOB. Если за бортом окажется шкипер — управлять яхтой останется человек без опыта.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и заглушить двигатель, включить нейтраль.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Встать за штурвал и остановить лодку.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Бросить плавучее средство и не терять человека из виду.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Вызвать помощь: VHF 16 или ALO 158.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Тренировка в тихой воде — в первый день чартера.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3154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23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ПЯТЫЙ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Ритм дня, ветер и погода</a:t>
            </a:r>
            <a:endParaRPr lang="en-US" sz="3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дня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06:30–07:00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118872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Windy, визуальная оценка моря. Решение: идём или ждём.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7922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07:00–08:00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179222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из бухты.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09:00–13:00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39572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Переход: обычно 2–4 часа, 10–15 морских миль.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13:00–14:00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99923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Приход, якорь или швартовка, обед.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60273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 и позже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3602736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Купание, берег, рестораны. Никаких открытых участков.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420624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на ночь, якорная тревога, проверка огней.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 прихода в незнакомую бухту — 15:00–16:00. Закат в конце сентября ~18:50.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ветра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рано утром, приход до 14:00–15:00: послеобеденное усиление NW — норма даже в конце сентября.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Мелтеми к 26 сентября почти угас, но утренние северные и дневной бриз остаются.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воевать с ветром: лишняя ночь в защищённой бухте = хороший план, а не сбой графика.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Убежище от погоды всегда в пределах 1–2 часов перехода.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Б при усилении: Serçe Limanı, Bozukkale, Datça Marina, Мармарис.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E7F0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18795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строится так, чтобы в любой момент ближайшая защищённая бухта была рядом.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Зоны усиления и признаки мелтеми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Ритм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35024"/>
            <a:ext cx="91440" cy="91440"/>
          </a:xfrm>
          <a:prstGeom prst="rect">
            <a:avLst/>
          </a:prstGeom>
          <a:solidFill>
            <a:srgbClr val="C0563B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ветер сильнее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627632"/>
            <a:ext cx="341985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островами, у мысов и в проливах: 15 узлов в открытом море превращаются в 25–30 в узости. Мысы и входы в каналы проходить с запасом даже при «среднем» прогнозе.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91456" y="1335024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за 24–36 часов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627632"/>
            <a:ext cx="341985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давления над Балканами и севером Эгеиды. Резкое падение влажности, исключительная видимость. Нет утренней росы. Высокие отдельные облака. Северный поток усиливается в модельных прогнозах.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3154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23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ШЕСТОЙ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Манёвры: мед-швартовка и якорь</a:t>
            </a:r>
            <a:endParaRPr lang="en-US" sz="3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Мед-швартовка: подготовка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Выяснить схему марины: lazy line или свой якорь, глубина, течение.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Кранцы — оба борта плюс корма; динги убрать с прохода.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Якорь готов к свободной отдаче, цепь разложена без кучи.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кормовых конца на утках: наветренный и подветренный, вне винта.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вдоль места: свободный слот, ветер, чужие цепи, ориентир отдачи.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Сомневаетесь в глубине — встаньте носом к причалу: безопаснее.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143000"/>
            <a:ext cx="342900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0" y="4626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Схема: кормой к причалу, якорь с носа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Мед-швартовка: манёвр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Подход задним ходом, минимальная скорость с сохранением управляемости.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Корму направлять под ветер; помнить про prop-walk — корму уводит.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Якорь отдать в ~4 длинах корпуса от причала.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Травить цепь контролируемо; за 1 длину корпуса — прекратить травление.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Пауза: цепь натянулась и лодка замедлилась — якорь держит.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Первым передать наветренный кормовой конец, затем подветренный.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Натяжение регулировать двигателем, а не руками.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Двигатель не глушить: проверить концы, кранцы, расстояние до причала.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Отход и типичные ошибки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Отход: сначала кормовые концы, затем якорь или lazy line, потом выход.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Канат в воде — крикнуть немедленно, двигатель в нейтраль.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Цепь «клюнула и упала» — якорь не забрал: манёвр повторить дальше от причала.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высаживать человека на берег ради передачи конца — подать бросательным.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Попросить докхенда принять концы — это нормально и ожидаемо.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7F0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0690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Спешка — главный враг: 5 минут подготовки экономят 30 минут переделывания под взглядами соседей.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Якорь: сколько цепи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35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глубин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цепи в спокойных условиях. Пример: глубина 8 м — вытравить 28–30 м.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35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м и больше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00600" y="19019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ветре 15–20 узлов на той же глубине. Ветрено — цепи больше, сомнений меньше.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Отдать якорь на остановке, медленно сдавать назад, постепенно травя цепь.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Забрал грунт — проверить коротким задним ходом, без фанатизма.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Песок и ил держат хорошо; камни и трава — проверить фактическое зацепление.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Радиус разворота с запасом оценить до отдачи якоря.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Ночь на якоре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Snubber на цепь: снимает рывки и нагрузку с лебёдки; закрепить и потравить пару метров.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GPS-якорная тревога: радиус примерно вытравленная цепь плюс 5 метров.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сном: натяжение цепи, расстояние до соседей, прогноз ночи.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Двигатель готов к запуску; договориться, что делаем, если тащим.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Скала у кормы — кранцевая доска или кранец на корму.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свежий ветер — якорная вахта по очереди.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Швартовка кормой к берегу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Турецкая классика: корма к причалу или корма к берегу на двух концах.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крепления: кольца и монолитные скалы. Не деревья, не кусты, не подвижные камни.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Натяжение обоих концов примерно равное — иначе лодку разворачивает и трёет о берег.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Завозить конец на динги; надёжно закрепить на берегу до возвращения к яхте.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Помогают яркие плавающие стропы 40–50 метров.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Длинные концы: не держать в руках, крепить за утку и травить через неё.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Ресторанные причалы и буйки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Приходить к 14:00–15:00: лучшие места разбирают раньше.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Бронировать заранее по VHF или WhatsApp и подтверждать условия.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Спросить: бесплатно ли при ужине, минимальный заказ, вода/электричество, отмена.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Докхенд принимает концы — подавать бросательным концом.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купаться у причалов, мусор забирать на берег.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E7F0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09651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Ужин на воде при закате — главная награда дня. Бронируйте его так же тщательно, как место у причала.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3154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23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СЕДЬМОЙ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Безопасность: MOB и аварийные ситуации</a:t>
            </a:r>
            <a:endParaRPr lang="en-US" sz="3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за бортом: действия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Крик «Человек за бортом!» и бросить всё плавучее: круг, подкову, подушку.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Нажать MOB-точку на картплотере или в телефоне.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Непрерывно смотреть на человека — главный приоритет на двоих.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Вернуться: подход с подветренного борта, двигатель в нейтраль до контакта.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Подъём: трап для сознательного; фал и лебёдка для ослабевшего.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Вызвать помощь как можно раньше: VHF 16 / ALO 158.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Профилактика и тренировка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Жилет и страховочный пояс — в свежий ветер и ночью, без исключений.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Перемещаться по палубе пригнувшись, одна рука всегда на лодке.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Отработать Quick Stop / LifeSling в тихой воде в первый день.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умеют остановить лодку и запустить двигатель.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рассчитывать, что человек залезет сам: уставший и охлаждённый не сможет.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подъёма: снять мокрое, растереть, укутать, наблюдать; нет дыхания — СЛР.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аварийные сценарии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35024"/>
            <a:ext cx="91440" cy="91440"/>
          </a:xfrm>
          <a:prstGeom prst="rect">
            <a:avLst/>
          </a:prstGeom>
          <a:solidFill>
            <a:srgbClr val="C0563B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627632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Перекрыть газ и топливо. Тушить у основания пламени. Жилеты на обоих. При развитии — VHF 16.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91456" y="1335024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Течь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627632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источник, закрыть кингстон, обе помпы. Ручная откачка вдвоём — по очереди.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39319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090672"/>
            <a:ext cx="914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Двигатель умер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" y="3383280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Якорь, оценка сноса, связь с базой. Не чинить на ходу в узкости.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944368"/>
            <a:ext cx="39319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3090672"/>
            <a:ext cx="914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4974336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Мель или камень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74336" y="3383280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 машина, осмотр трюма на воду, ждать помощь/прилив. При чек-ауте сказать честно.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Экстренные номера и вызов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35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VHF 16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Международный канал бедствия, безопасности и вызова.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35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 158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00600" y="19019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Береговая охрана Турции, звонок бесплатный.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895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+90 312 416 48 06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" y="34564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Güvenlik — резервный телефон береговой охраны.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74320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8895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базы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34564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24/7 — вписать сюда до выхода.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вызове: название судна, координаты, что случилось, сколько людей, какая помощь нужна, динамика (дрейф, ветер).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3154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23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ВОСЬМОЙ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 на борту вдвоём</a:t>
            </a:r>
            <a:endParaRPr lang="en-US" sz="3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Вода, электрика, газ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Вода: танк ~200–300 л. Душ из ковша: солёный, затем пресный сполоск. Краны закрывать.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Дозаправка воды — в деревнях и маринах по маршруту.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Двигатель 30–60 минут в день подзаряжает аккумуляторы.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— главный потребитель; вечером только LED-свет.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Газ: после каждой готовки перекрыть баллон. Всегда.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 и чайник на якоре не работают: только от берегового питания в марине.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Укачивание и солнце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Укачивает даже опытных: таблетки за час до выхода.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Шкиперу — только несонливые препараты; проверить реакцию заранее.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на горизонт; взять управление — парадоксально помогает.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Имбирь и сухарики — лёгкая помощь на первое время.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Солнце у воды агрессивное: SPF 50, кепка, очки со шнурком.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 2–3 литра на человека в день; обезвоживание усиливает укачивание.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Provisioning: еда и вода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закупка в Мармарисе: Yat Market у Netsel или Migros.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деревнях: хлеб, вода, овощи, рыба, лёд — без гипермаркета.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Схема: запас на 2–3 дня плюс докупка по пути.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забивать 10–12 метров под завязку: место = комфорт.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Питьевая вода отдельно; термосумка со льдом.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Ужины в ресторанных бухтах — часть маршрута: планируйте как события.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143000"/>
            <a:ext cx="342900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0" y="4626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Турунч: деревня, магазин и причалы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3154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23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ДЕВЯТЫЙ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Чек-аут: возврат яхты и депозита</a:t>
            </a:r>
            <a:endParaRPr lang="en-US" sz="3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Чек-аут: порядок действий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Чек-аут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Вернуть яхту в пятницу к 16:00–17:00 — точное время в договоре. Последний переход планировать с запасом по свету и ветру.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Топливный бак — полный. Уточнить, где заправляться и нужен ли чек.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Чёрный бак — пуст (требование части операторов).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Инвентарь на месте, личные вещи убраны, посуда помыта, мусор на берег.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Все поломки и инциденты — сообщить агенту до осмотра. Честность дешевле депозита.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Итоговый осмотр с агентом и подписанный check-out sheet — забрать с собой.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Депозит разблокируется после осмотра за вычетом подтверждённых расходов.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золотых правил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Выход утром, приход до 15:00.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Прогноз решает: нет уверенности — день в бухте.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Манёвр = роли, сигналы, подготовка.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Канат в воде — сразу нейтраль.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Она умеет остановить лодку.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00600" y="114300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Якорь: цепи больше, snubber, аларм.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Приёмка — с фото, сдача — честно.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Жилеты в свежий ветер и ночью.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Газ перекрыт, вода и заряд под контролем.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Чек-аут — только с подписанным актом.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82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звонка оператору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2376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время чек-ина и чек-аута; можно ли остаться на борту в последнюю ночь.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Депозит: размер, пре-авторизация или наличные, срок возврата.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log: кто оформляет и входит ли в пакет.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Card: где станция сдачи сточных вод.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Заправка: где заправляться и нужен ли чек.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канал VHF базы и телефон агента 24/7.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lines и буи в бухтах вашего маршрута: кто принимает концы.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743200"/>
            <a:ext cx="9144000" cy="2400300"/>
          </a:xfrm>
          <a:prstGeom prst="rect">
            <a:avLst/>
          </a:prstGeom>
          <a:solidFill>
            <a:srgbClr val="0B2438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Попутного ветра и семь футов под килем!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Изучите этот гайд вдвоём до поездки и отработайте базу в первый день — и неделя станет приключением, а не экзаменом.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Фото: Wikimedia Commons — см. SOURCES.md. Подготовлено Hermes Agent, август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3705</Words>
  <Application>Microsoft Macintosh PowerPoint</Application>
  <PresentationFormat>Экран (16:9)</PresentationFormat>
  <Paragraphs>439</Paragraphs>
  <Slides>51</Slides>
  <Notes>51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m13259</cp:lastModifiedBy>
  <cp:revision>1</cp:revision>
  <dcterms:created xsi:type="dcterms:W3CDTF">2026-08-09T17:37:13Z</dcterms:created>
  <dcterms:modified xsi:type="dcterms:W3CDTF">2026-08-16T21:26:49Z</dcterms:modified>
</cp:coreProperties>
</file>