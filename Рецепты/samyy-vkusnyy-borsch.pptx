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76" y="10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183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37760" y="0"/>
            <a:ext cx="42062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2A1810"/>
          </a:solidFill>
          <a:ln w="12700">
            <a:solidFill>
              <a:srgbClr val="2A181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" y="502920"/>
            <a:ext cx="457200" cy="54864"/>
          </a:xfrm>
          <a:prstGeom prst="rect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012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8C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КУЛИНАРНОЕ ИССЛЕДОВАНИЕ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114300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F7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Самый вкусный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7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борщ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457200" y="29718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8C7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История, культурное значение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D8C7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 канонический рецепт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4160520"/>
            <a:ext cx="1463040" cy="36576"/>
          </a:xfrm>
          <a:prstGeom prst="rect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2976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C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Исследование · 7 слайдов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01 · ЭТИМОЛОГИЯ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Откуда взялось слово «борщ»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27432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C7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80160"/>
            <a:ext cx="2743200" cy="73152"/>
          </a:xfrm>
          <a:prstGeom prst="rect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 растения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Праславянское *bŭrščĭ* — борщевик (Heracleum). Съедобное растение, листья и стебли которого шли в отвар.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7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Лингвисты: А.Е. Аникин, Н.М. Шанский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7432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C7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280160"/>
            <a:ext cx="2743200" cy="73152"/>
          </a:xfrm>
          <a:prstGeom prst="rect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508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 кислого кваса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29000" y="26060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Борш — отрубной квас. «Борщ» и «брожение» — однокоренные. Похлёбка на кислой основе.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7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Упоминание у архидьякона Павла Алеппского (XVII в.)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1280160"/>
            <a:ext cx="27432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C7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1280160"/>
            <a:ext cx="2743200" cy="73152"/>
          </a:xfrm>
          <a:prstGeom prst="rect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5087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30936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Буряк + щи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09360" y="26060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Калька: украинское «буряк» (свекла) + «щи». Буквально — «щи со свеклой».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7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Словарь В.И. Даля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7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Этимология слова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9200" y="4846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7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29260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02 · ЭВОЛЮЦИЯ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 травяного отвара до наследия ЮНЕСКО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8046720" cy="36576"/>
          </a:xfrm>
          <a:prstGeom prst="rect">
            <a:avLst/>
          </a:prstGeom>
          <a:solidFill>
            <a:srgbClr val="D8C7B0"/>
          </a:solidFill>
          <a:ln w="12700">
            <a:solidFill>
              <a:srgbClr val="D8C7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35608" y="2002536"/>
            <a:ext cx="237744" cy="237744"/>
          </a:xfrm>
          <a:prstGeom prst="ellipse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IX–X вв.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Первые свекольные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похлёбки на Руси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47288" y="2002536"/>
            <a:ext cx="237744" cy="237744"/>
          </a:xfrm>
          <a:prstGeom prst="ellipse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XVI в.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2331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«Домострой»: борщ из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квашеной свёклы на квасе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58968" y="2002536"/>
            <a:ext cx="237744" cy="237744"/>
          </a:xfrm>
          <a:prstGeom prst="ellipse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XIX в.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331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Свекольный квас 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 настоящего борща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70648" y="2002536"/>
            <a:ext cx="237744" cy="237744"/>
          </a:xfrm>
          <a:prstGeom prst="ellipse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июля 2022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2331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ЮНЕСКО: борщ —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наследие Украины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4160520"/>
            <a:ext cx="9144000" cy="548640"/>
          </a:xfrm>
          <a:prstGeom prst="rect">
            <a:avLst/>
          </a:prstGeom>
          <a:solidFill>
            <a:srgbClr val="2A1810"/>
          </a:solidFill>
          <a:ln w="12700">
            <a:solidFill>
              <a:srgbClr val="2A181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7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«Русские покупают борщ редко или никогда, потому что каждый готовит его сам у себя дома» — Мартин Груневег, 1584–1585 гг.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4846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7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Эволюция борща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29200" y="4846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7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03 · ГЕОГРАФИЯ ВКУСА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Борщ объединяет кухни целого региона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C7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91440" cy="1417320"/>
          </a:xfrm>
          <a:prstGeom prst="rect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990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🇺🇦  Украина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0136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Густой, со свеклой, капустой, картофелем, чесноком и салом. Подаётся с пампушками и сметаной.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53712" y="1234440"/>
            <a:ext cx="3931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C7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3712" y="1234440"/>
            <a:ext cx="91440" cy="1417320"/>
          </a:xfrm>
          <a:prstGeom prst="rect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13990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🇵🇱  Польша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28032" y="180136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Barszcz — прозрачный свекольный бульон с «ушками» (грибные пельмени) или сытный суп на квасе.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16352"/>
            <a:ext cx="3931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C7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16352"/>
            <a:ext cx="91440" cy="1417320"/>
          </a:xfrm>
          <a:prstGeom prst="rect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9809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🇱🇹  Литва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33832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Šaltibarščiai — холодный борщ на кефире со свеклой, огурцами, яйцами и укропом.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53712" y="2816352"/>
            <a:ext cx="39319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C7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53712" y="2816352"/>
            <a:ext cx="91440" cy="1417320"/>
          </a:xfrm>
          <a:prstGeom prst="rect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29809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🇷🇺  Россия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28032" y="33832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Свекольник и холодник — на квасе, кефире или свекольном отваре. Подаётся летом.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8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«Выявить исходный рецепт борща решительно невозможно» — историк кулинарии М. Марусенков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7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География борща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0" y="4846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7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04 · НА 6 ПОРЦИЙ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Ингредиенты классического борща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297680" cy="3465576"/>
          </a:xfrm>
          <a:prstGeom prst="rect">
            <a:avLst/>
          </a:prstGeom>
          <a:solidFill>
            <a:srgbClr val="FFFFFF"/>
          </a:solidFill>
          <a:ln w="9525">
            <a:solidFill>
              <a:srgbClr val="D8C7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447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ПРОДУКТЫ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865376"/>
            <a:ext cx="73152" cy="73152"/>
          </a:xfrm>
          <a:prstGeom prst="ellipse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8308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Говядина на кости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63240" y="178308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г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020824"/>
            <a:ext cx="3840480" cy="4572"/>
          </a:xfrm>
          <a:prstGeom prst="rect">
            <a:avLst/>
          </a:prstGeom>
          <a:solidFill>
            <a:srgbClr val="D8C7B0"/>
          </a:solidFill>
          <a:ln w="12700">
            <a:solidFill>
              <a:srgbClr val="D8C7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112264"/>
            <a:ext cx="73152" cy="73152"/>
          </a:xfrm>
          <a:prstGeom prst="ellipse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02996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Свёкла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63240" y="202996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шт. (~400 г)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267712"/>
            <a:ext cx="3840480" cy="4572"/>
          </a:xfrm>
          <a:prstGeom prst="rect">
            <a:avLst/>
          </a:prstGeom>
          <a:solidFill>
            <a:srgbClr val="D8C7B0"/>
          </a:solidFill>
          <a:ln w="12700">
            <a:solidFill>
              <a:srgbClr val="D8C7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359152"/>
            <a:ext cx="73152" cy="73152"/>
          </a:xfrm>
          <a:prstGeom prst="ellipse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27685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Капуста белокочанная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63240" y="2276856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г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2514600"/>
            <a:ext cx="3840480" cy="4572"/>
          </a:xfrm>
          <a:prstGeom prst="rect">
            <a:avLst/>
          </a:prstGeom>
          <a:solidFill>
            <a:srgbClr val="D8C7B0"/>
          </a:solidFill>
          <a:ln w="12700">
            <a:solidFill>
              <a:srgbClr val="D8C7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606040"/>
            <a:ext cx="73152" cy="73152"/>
          </a:xfrm>
          <a:prstGeom prst="ellipse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5237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Картофель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63240" y="2523744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 шт. (~400 г)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2761488"/>
            <a:ext cx="3840480" cy="4572"/>
          </a:xfrm>
          <a:prstGeom prst="rect">
            <a:avLst/>
          </a:prstGeom>
          <a:solidFill>
            <a:srgbClr val="D8C7B0"/>
          </a:solidFill>
          <a:ln w="12700">
            <a:solidFill>
              <a:srgbClr val="D8C7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852928"/>
            <a:ext cx="73152" cy="73152"/>
          </a:xfrm>
          <a:prstGeom prst="ellipse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277063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Морковь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63240" y="277063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шт.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" y="3008376"/>
            <a:ext cx="3840480" cy="4572"/>
          </a:xfrm>
          <a:prstGeom prst="rect">
            <a:avLst/>
          </a:prstGeom>
          <a:solidFill>
            <a:srgbClr val="D8C7B0"/>
          </a:solidFill>
          <a:ln w="12700">
            <a:solidFill>
              <a:srgbClr val="D8C7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3099816"/>
            <a:ext cx="73152" cy="73152"/>
          </a:xfrm>
          <a:prstGeom prst="ellipse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301752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Лук репчатый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63240" y="301752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шт.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3255264"/>
            <a:ext cx="3840480" cy="4572"/>
          </a:xfrm>
          <a:prstGeom prst="rect">
            <a:avLst/>
          </a:prstGeom>
          <a:solidFill>
            <a:srgbClr val="D8C7B0"/>
          </a:solidFill>
          <a:ln w="12700">
            <a:solidFill>
              <a:srgbClr val="D8C7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3346704"/>
            <a:ext cx="73152" cy="73152"/>
          </a:xfrm>
          <a:prstGeom prst="ellipse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326440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Томатная паста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063240" y="326440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ст. л.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" y="3502152"/>
            <a:ext cx="3840480" cy="4572"/>
          </a:xfrm>
          <a:prstGeom prst="rect">
            <a:avLst/>
          </a:prstGeom>
          <a:solidFill>
            <a:srgbClr val="D8C7B0"/>
          </a:solidFill>
          <a:ln w="12700">
            <a:solidFill>
              <a:srgbClr val="D8C7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3593592"/>
            <a:ext cx="73152" cy="73152"/>
          </a:xfrm>
          <a:prstGeom prst="ellipse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3511296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Чеснок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063240" y="3511296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зубчика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" y="3749040"/>
            <a:ext cx="3840480" cy="4572"/>
          </a:xfrm>
          <a:prstGeom prst="rect">
            <a:avLst/>
          </a:prstGeom>
          <a:solidFill>
            <a:srgbClr val="D8C7B0"/>
          </a:solidFill>
          <a:ln w="12700">
            <a:solidFill>
              <a:srgbClr val="D8C7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" y="3840480"/>
            <a:ext cx="73152" cy="73152"/>
          </a:xfrm>
          <a:prstGeom prst="ellipse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375818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Свиное сало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063240" y="3758184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г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5800" y="3995928"/>
            <a:ext cx="3840480" cy="4572"/>
          </a:xfrm>
          <a:prstGeom prst="rect">
            <a:avLst/>
          </a:prstGeom>
          <a:solidFill>
            <a:srgbClr val="D8C7B0"/>
          </a:solidFill>
          <a:ln w="12700">
            <a:solidFill>
              <a:srgbClr val="D8C7B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" y="4087368"/>
            <a:ext cx="73152" cy="73152"/>
          </a:xfrm>
          <a:prstGeom prst="ellipse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" y="4005072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Уксус 9 % / лимон. сок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063240" y="4005072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ст. л.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85800" y="4242816"/>
            <a:ext cx="3840480" cy="4572"/>
          </a:xfrm>
          <a:prstGeom prst="rect">
            <a:avLst/>
          </a:prstGeom>
          <a:solidFill>
            <a:srgbClr val="D8C7B0"/>
          </a:solidFill>
          <a:ln w="12700">
            <a:solidFill>
              <a:srgbClr val="D8C7B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5800" y="4334256"/>
            <a:ext cx="73152" cy="73152"/>
          </a:xfrm>
          <a:prstGeom prst="ellipse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8680" y="425196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Сахар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063240" y="425196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ч. л.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85800" y="4489704"/>
            <a:ext cx="3840480" cy="4572"/>
          </a:xfrm>
          <a:prstGeom prst="rect">
            <a:avLst/>
          </a:prstGeom>
          <a:solidFill>
            <a:srgbClr val="D8C7B0"/>
          </a:solidFill>
          <a:ln w="12700">
            <a:solidFill>
              <a:srgbClr val="D8C7B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5800" y="4581144"/>
            <a:ext cx="73152" cy="73152"/>
          </a:xfrm>
          <a:prstGeom prst="ellipse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8680" y="4498848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18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Лавровый лист, перец, соль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063240" y="449884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вкусу</a:t>
            </a:r>
            <a:endParaRPr lang="en-US" sz="1100" dirty="0"/>
          </a:p>
        </p:txBody>
      </p:sp>
      <p:pic>
        <p:nvPicPr>
          <p:cNvPr id="5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37760" y="1280160"/>
            <a:ext cx="3749040" cy="3200400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4937760" y="4526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7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Свежие овощи — основа вкуса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457200" y="4846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7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Ингредиенты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5029200" y="4846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7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29260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B8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05 · 5 ШАГОВ · ~2,5 ЧАСА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Пошаговое приготовление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56616" y="1417320"/>
            <a:ext cx="162763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C7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" y="1600200"/>
            <a:ext cx="594360" cy="594360"/>
          </a:xfrm>
          <a:prstGeom prst="ellipse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3252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7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48056" y="22860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Бульон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" y="2697480"/>
            <a:ext cx="1353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Говядину залить холодной водой, снять пену. Варить с луком, морковью и корнем петрушки 1,5–2 ч. Мясо вынуть, нарезать.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57400" y="1417320"/>
            <a:ext cx="162763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C7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74036" y="1600200"/>
            <a:ext cx="594360" cy="594360"/>
          </a:xfrm>
          <a:prstGeom prst="ellipse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4036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7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48840" y="22860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Зажарка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94560" y="2697480"/>
            <a:ext cx="1353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сале обжарить лук, морковь и свёклу. Добавить томатную пасту, уксус, сахар и 100 мл бульона. Тушить 10 мин.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58184" y="1417320"/>
            <a:ext cx="162763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C7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4820" y="1600200"/>
            <a:ext cx="594360" cy="594360"/>
          </a:xfrm>
          <a:prstGeom prst="ellipse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482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7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849624" y="22860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Картофель и капуста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95344" y="2697480"/>
            <a:ext cx="1353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кипящий бульон заложить картофель, через 10 мин — нашинкованную капусту. Варить 10 мин.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58968" y="1417320"/>
            <a:ext cx="162763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C7B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75604" y="1600200"/>
            <a:ext cx="594360" cy="594360"/>
          </a:xfrm>
          <a:prstGeom prst="ellipse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75604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7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550408" y="22860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Сборка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96128" y="2697480"/>
            <a:ext cx="1353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Переложить зажарку в кастрюлю. Добавить лавровый лист, перец, мясо. Варить ещё 10 мин.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59752" y="1417320"/>
            <a:ext cx="162763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C7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76388" y="1600200"/>
            <a:ext cx="594360" cy="594360"/>
          </a:xfrm>
          <a:prstGeom prst="ellipse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76388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7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251192" y="22860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Заправка и настой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96912" y="2697480"/>
            <a:ext cx="1353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Растереть сало с чесноком и зеленью, ввести в борщ. Снять с огня и настоять под крышкой 20–30 мин.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57200" y="4846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7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 приготовления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029200" y="4846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7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1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1810">
              <a:alpha val="50000"/>
            </a:srgbClr>
          </a:solidFill>
          <a:ln w="12700">
            <a:solidFill>
              <a:srgbClr val="2A181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" y="502920"/>
            <a:ext cx="457200" cy="54864"/>
          </a:xfrm>
          <a:prstGeom prst="rect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012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8C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Глава 06 · Подача и наследие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8686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7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Подача и культурное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7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значение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498348" y="2377440"/>
            <a:ext cx="457200" cy="36576"/>
          </a:xfrm>
          <a:prstGeom prst="rect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8348" y="24871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Классическая подача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98348" y="29260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C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Сметана, укроп и петрушка. К борщу — чесночные пампушки, ржаной хлеб и сало.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68980" y="2377440"/>
            <a:ext cx="457200" cy="36576"/>
          </a:xfrm>
          <a:prstGeom prst="rect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68980" y="24871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Буряковый квас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3268980" y="29260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C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Забытая основа настоящего борща: ферментированный свекольный настой.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9612" y="2377440"/>
            <a:ext cx="457200" cy="36576"/>
          </a:xfrm>
          <a:prstGeom prst="rect">
            <a:avLst/>
          </a:prstGeom>
          <a:solidFill>
            <a:srgbClr val="B83A2E"/>
          </a:solidFill>
          <a:ln w="12700">
            <a:solidFill>
              <a:srgbClr val="B83A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9612" y="248716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Культурный код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039612" y="29260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C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2022 году ЮНЕСКО включило «Культуру приготовления украинского борща» в список срочной охраны.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0" y="43434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2200" b="1" i="1" dirty="0">
                <a:solidFill>
                  <a:srgbClr val="B8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Приятного аппетита</a:t>
            </a:r>
            <a:r>
              <a:rPr lang="en-US" sz="2200" b="1" i="1" dirty="0">
                <a:solidFill>
                  <a:srgbClr val="B8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57200" y="4846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7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Борщ: итог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029200" y="4846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7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605</Words>
  <Application>Microsoft Macintosh PowerPoint</Application>
  <PresentationFormat>Экран (16:9)</PresentationFormat>
  <Paragraphs>120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Кулинарное исследование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Самый вкусный борщ: история и рецепт</dc:title>
  <dc:subject>PptxGenJS Presentation</dc:subject>
  <dc:creator>Borscht Lab</dc:creator>
  <cp:lastModifiedBy>m13259</cp:lastModifiedBy>
  <cp:revision>2</cp:revision>
  <dcterms:created xsi:type="dcterms:W3CDTF">2026-06-14T21:19:53Z</dcterms:created>
  <dcterms:modified xsi:type="dcterms:W3CDTF">2026-06-14T21:30:23Z</dcterms:modified>
</cp:coreProperties>
</file>