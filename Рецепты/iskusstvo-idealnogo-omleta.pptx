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7008"/>
    <p:restoredTop sz="94610"/>
  </p:normalViewPr>
  <p:slideViewPr>
    <p:cSldViewPr snapToGrid="0" snapToObjects="1">
      <p:cViewPr varScale="1">
        <p:scale>
          <a:sx n="121" d="100"/>
          <a:sy n="121" d="100"/>
        </p:scale>
        <p:origin x="176" y="102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5292879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20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5669280" cy="5143500"/>
          </a:xfrm>
          <a:prstGeom prst="rect">
            <a:avLst/>
          </a:prstGeom>
          <a:solidFill>
            <a:srgbClr val="1A120B">
              <a:alpha val="75000"/>
            </a:srgbClr>
          </a:solidFill>
          <a:ln w="12700">
            <a:solidFill>
              <a:srgbClr val="1A120B"/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512064" y="1438031"/>
            <a:ext cx="82296" cy="2727569"/>
          </a:xfrm>
          <a:prstGeom prst="rect">
            <a:avLst/>
          </a:prstGeom>
          <a:solidFill>
            <a:srgbClr val="F5E6C8"/>
          </a:solidFill>
          <a:ln w="12700">
            <a:solidFill>
              <a:srgbClr val="F5E6C8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685800" y="1333793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F5E6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КУЛИНАРНАЯ ШКОЛА  •  ЗАВТРАК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640080" y="1953065"/>
            <a:ext cx="51206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400"/>
              </a:spcAft>
              <a:buNone/>
            </a:pPr>
            <a:r>
              <a:rPr lang="en-US" sz="4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Искусство</a:t>
            </a:r>
            <a:endParaRPr lang="en-US" sz="44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4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идеального омлета</a:t>
            </a:r>
            <a:endParaRPr lang="en-US" sz="4400" dirty="0"/>
          </a:p>
        </p:txBody>
      </p:sp>
      <p:sp>
        <p:nvSpPr>
          <p:cNvPr id="7" name="Text 4"/>
          <p:cNvSpPr/>
          <p:nvPr/>
        </p:nvSpPr>
        <p:spPr>
          <a:xfrm>
            <a:off x="685800" y="3646170"/>
            <a:ext cx="5120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5E6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Рецепт самого вкусного омлета — от французской классики до пышного суфле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685800" y="443484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A6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слайдов  •  ~10 минут чтения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E6C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400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 •  ДВА ПОДХОДА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48640" y="292608"/>
            <a:ext cx="8138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000" b="1" dirty="0">
                <a:solidFill>
                  <a:srgbClr val="2B211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Два подхода к одному блюду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5120640" y="1097280"/>
            <a:ext cx="3611880" cy="237744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457200" y="1097280"/>
            <a:ext cx="4389120" cy="1691640"/>
          </a:xfrm>
          <a:prstGeom prst="rect">
            <a:avLst/>
          </a:prstGeom>
          <a:solidFill>
            <a:srgbClr val="FFFFFF"/>
          </a:solidFill>
          <a:ln w="6350">
            <a:solidFill>
              <a:srgbClr val="7A6A5C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640080" y="1280160"/>
            <a:ext cx="384048" cy="384048"/>
          </a:xfrm>
          <a:prstGeom prst="ellipse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640080" y="12801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1143000" y="1234440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B211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Французский омлет</a:t>
            </a:r>
            <a:endParaRPr lang="en-US" sz="1800" dirty="0"/>
          </a:p>
        </p:txBody>
      </p:sp>
      <p:sp>
        <p:nvSpPr>
          <p:cNvPr id="10" name="Text 7"/>
          <p:cNvSpPr/>
          <p:nvPr/>
        </p:nvSpPr>
        <p:spPr>
          <a:xfrm>
            <a:off x="640080" y="1691640"/>
            <a:ext cx="4023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200"/>
              </a:spcAft>
              <a:buNone/>
            </a:pPr>
            <a:r>
              <a:rPr lang="en-US" sz="1200" dirty="0">
                <a:solidFill>
                  <a:srgbClr val="2B21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Гладкий рулет бледно-жёлтого цвета с кремовой сердцевиной. Готовится быстро на низком огне, без молока — только яйца, соль и сливочное масло.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457200" y="2926080"/>
            <a:ext cx="4389120" cy="1691640"/>
          </a:xfrm>
          <a:prstGeom prst="rect">
            <a:avLst/>
          </a:prstGeom>
          <a:solidFill>
            <a:srgbClr val="FFFFFF"/>
          </a:solidFill>
          <a:ln w="6350">
            <a:solidFill>
              <a:srgbClr val="7A6A5C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640080" y="3108960"/>
            <a:ext cx="384048" cy="384048"/>
          </a:xfrm>
          <a:prstGeom prst="ellipse">
            <a:avLst/>
          </a:prstGeom>
          <a:solidFill>
            <a:srgbClr val="6B8E4E"/>
          </a:solidFill>
          <a:ln w="12700">
            <a:solidFill>
              <a:srgbClr val="6B8E4E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640080" y="31089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1143000" y="3063240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B211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Пышный омлет</a:t>
            </a:r>
            <a:endParaRPr lang="en-US" sz="1800" dirty="0"/>
          </a:p>
        </p:txBody>
      </p:sp>
      <p:sp>
        <p:nvSpPr>
          <p:cNvPr id="15" name="Text 12"/>
          <p:cNvSpPr/>
          <p:nvPr/>
        </p:nvSpPr>
        <p:spPr>
          <a:xfrm>
            <a:off x="640080" y="3520440"/>
            <a:ext cx="4023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200"/>
              </a:spcAft>
              <a:buNone/>
            </a:pPr>
            <a:r>
              <a:rPr lang="en-US" sz="1200" dirty="0">
                <a:solidFill>
                  <a:srgbClr val="2B21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Высокий, пористый, как нежное суфле. С молоком и под крышкой, без перемешивания — поднимается за счёт пара и воздуха.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5120640" y="3520440"/>
            <a:ext cx="3611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7A6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Слева — рулет, справа — суфле. Один рецепт, разный характер.</a:t>
            </a:r>
            <a:endParaRPr lang="en-US" sz="1000" dirty="0"/>
          </a:p>
        </p:txBody>
      </p:sp>
      <p:sp>
        <p:nvSpPr>
          <p:cNvPr id="17" name="Text 14"/>
          <p:cNvSpPr/>
          <p:nvPr/>
        </p:nvSpPr>
        <p:spPr>
          <a:xfrm>
            <a:off x="457200" y="4846320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A6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Искусство идеального омлета</a:t>
            </a:r>
            <a:endParaRPr lang="en-US" sz="900" dirty="0"/>
          </a:p>
        </p:txBody>
      </p:sp>
      <p:sp>
        <p:nvSpPr>
          <p:cNvPr id="18" name="Text 15"/>
          <p:cNvSpPr/>
          <p:nvPr/>
        </p:nvSpPr>
        <p:spPr>
          <a:xfrm>
            <a:off x="7589520" y="4846320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A6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/ 07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BF1D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400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 •  ИНГРЕДИЕНТЫ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48640" y="292608"/>
            <a:ext cx="8138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000" b="1" dirty="0">
                <a:solidFill>
                  <a:srgbClr val="2B211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Ингредиенты — на 2 порции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57200" y="1097280"/>
            <a:ext cx="3657600" cy="352044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4343400" y="1097280"/>
            <a:ext cx="4343400" cy="457200"/>
          </a:xfrm>
          <a:prstGeom prst="rect">
            <a:avLst/>
          </a:prstGeom>
          <a:solidFill>
            <a:srgbClr val="F5E6C8">
              <a:alpha val="50000"/>
            </a:srgbClr>
          </a:solidFill>
          <a:ln w="12700">
            <a:solidFill>
              <a:srgbClr val="F5E6C8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4434840" y="1261872"/>
            <a:ext cx="128016" cy="128016"/>
          </a:xfrm>
          <a:prstGeom prst="ellipse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4617720" y="1143000"/>
            <a:ext cx="1783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B211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Куриные яйца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6446520" y="114300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A6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шт., комнатной температуры, крупные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4434840" y="1764792"/>
            <a:ext cx="128016" cy="128016"/>
          </a:xfrm>
          <a:prstGeom prst="ellipse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4617720" y="1645920"/>
            <a:ext cx="1783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B211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Молоко 2,5–3,2%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6446520" y="164592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A6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ст. л. (по 1 ст. л. на яйцо)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4343400" y="2103120"/>
            <a:ext cx="4343400" cy="457200"/>
          </a:xfrm>
          <a:prstGeom prst="rect">
            <a:avLst/>
          </a:prstGeom>
          <a:solidFill>
            <a:srgbClr val="F5E6C8">
              <a:alpha val="50000"/>
            </a:srgbClr>
          </a:solidFill>
          <a:ln w="12700">
            <a:solidFill>
              <a:srgbClr val="F5E6C8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4434840" y="2267712"/>
            <a:ext cx="128016" cy="128016"/>
          </a:xfrm>
          <a:prstGeom prst="ellipse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4617720" y="2148840"/>
            <a:ext cx="1783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B211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Сливочное масло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6446520" y="214884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A6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30–35 г (20 г в сковороду, остальное сверху)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4434840" y="2770632"/>
            <a:ext cx="128016" cy="128016"/>
          </a:xfrm>
          <a:prstGeom prst="ellipse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4617720" y="2651760"/>
            <a:ext cx="1783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B211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Соль</a:t>
            </a:r>
            <a:endParaRPr lang="en-US" sz="1200" dirty="0"/>
          </a:p>
        </p:txBody>
      </p:sp>
      <p:sp>
        <p:nvSpPr>
          <p:cNvPr id="19" name="Text 16"/>
          <p:cNvSpPr/>
          <p:nvPr/>
        </p:nvSpPr>
        <p:spPr>
          <a:xfrm>
            <a:off x="6446520" y="265176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A6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щепотка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4343400" y="3108960"/>
            <a:ext cx="4343400" cy="457200"/>
          </a:xfrm>
          <a:prstGeom prst="rect">
            <a:avLst/>
          </a:prstGeom>
          <a:solidFill>
            <a:srgbClr val="F5E6C8">
              <a:alpha val="50000"/>
            </a:srgbClr>
          </a:solidFill>
          <a:ln w="12700">
            <a:solidFill>
              <a:srgbClr val="F5E6C8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4434840" y="3273552"/>
            <a:ext cx="128016" cy="128016"/>
          </a:xfrm>
          <a:prstGeom prst="ellipse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4617720" y="3154680"/>
            <a:ext cx="1783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B211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Перец чёрный или белый</a:t>
            </a:r>
            <a:endParaRPr lang="en-US" sz="1200" dirty="0"/>
          </a:p>
        </p:txBody>
      </p:sp>
      <p:sp>
        <p:nvSpPr>
          <p:cNvPr id="23" name="Text 20"/>
          <p:cNvSpPr/>
          <p:nvPr/>
        </p:nvSpPr>
        <p:spPr>
          <a:xfrm>
            <a:off x="6446520" y="315468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A6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 вкусу</a:t>
            </a:r>
            <a:endParaRPr lang="en-US" sz="1100" dirty="0"/>
          </a:p>
        </p:txBody>
      </p:sp>
      <p:sp>
        <p:nvSpPr>
          <p:cNvPr id="24" name="Shape 21"/>
          <p:cNvSpPr/>
          <p:nvPr/>
        </p:nvSpPr>
        <p:spPr>
          <a:xfrm>
            <a:off x="4434840" y="3776472"/>
            <a:ext cx="128016" cy="128016"/>
          </a:xfrm>
          <a:prstGeom prst="ellipse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4617720" y="3657600"/>
            <a:ext cx="1783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B211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Тёртый сыр</a:t>
            </a:r>
            <a:endParaRPr lang="en-US" sz="1200" dirty="0"/>
          </a:p>
        </p:txBody>
      </p:sp>
      <p:sp>
        <p:nvSpPr>
          <p:cNvPr id="26" name="Text 23"/>
          <p:cNvSpPr/>
          <p:nvPr/>
        </p:nvSpPr>
        <p:spPr>
          <a:xfrm>
            <a:off x="6446520" y="365760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A6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г (пармезан или чеддер)</a:t>
            </a:r>
            <a:endParaRPr lang="en-US" sz="1100" dirty="0"/>
          </a:p>
        </p:txBody>
      </p:sp>
      <p:sp>
        <p:nvSpPr>
          <p:cNvPr id="27" name="Shape 24"/>
          <p:cNvSpPr/>
          <p:nvPr/>
        </p:nvSpPr>
        <p:spPr>
          <a:xfrm>
            <a:off x="4343400" y="4114800"/>
            <a:ext cx="4343400" cy="457200"/>
          </a:xfrm>
          <a:prstGeom prst="rect">
            <a:avLst/>
          </a:prstGeom>
          <a:solidFill>
            <a:srgbClr val="F5E6C8">
              <a:alpha val="50000"/>
            </a:srgbClr>
          </a:solidFill>
          <a:ln w="12700">
            <a:solidFill>
              <a:srgbClr val="F5E6C8"/>
            </a:solidFill>
            <a:prstDash val="solid"/>
          </a:ln>
        </p:spPr>
      </p:sp>
      <p:sp>
        <p:nvSpPr>
          <p:cNvPr id="28" name="Shape 25"/>
          <p:cNvSpPr/>
          <p:nvPr/>
        </p:nvSpPr>
        <p:spPr>
          <a:xfrm>
            <a:off x="4434840" y="4279392"/>
            <a:ext cx="128016" cy="128016"/>
          </a:xfrm>
          <a:prstGeom prst="ellipse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4617720" y="4160520"/>
            <a:ext cx="1783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B211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Свежая зелень</a:t>
            </a:r>
            <a:endParaRPr lang="en-US" sz="1200" dirty="0"/>
          </a:p>
        </p:txBody>
      </p:sp>
      <p:sp>
        <p:nvSpPr>
          <p:cNvPr id="30" name="Text 27"/>
          <p:cNvSpPr/>
          <p:nvPr/>
        </p:nvSpPr>
        <p:spPr>
          <a:xfrm>
            <a:off x="6446520" y="416052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A6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петрушка, шнитт-лук — для подачи</a:t>
            </a:r>
            <a:endParaRPr lang="en-US" sz="1100" dirty="0"/>
          </a:p>
        </p:txBody>
      </p:sp>
      <p:sp>
        <p:nvSpPr>
          <p:cNvPr id="31" name="Text 28"/>
          <p:cNvSpPr/>
          <p:nvPr/>
        </p:nvSpPr>
        <p:spPr>
          <a:xfrm>
            <a:off x="457200" y="4846320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A6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Искусство идеального омлета</a:t>
            </a:r>
            <a:endParaRPr lang="en-US" sz="900" dirty="0"/>
          </a:p>
        </p:txBody>
      </p:sp>
      <p:sp>
        <p:nvSpPr>
          <p:cNvPr id="32" name="Text 29"/>
          <p:cNvSpPr/>
          <p:nvPr/>
        </p:nvSpPr>
        <p:spPr>
          <a:xfrm>
            <a:off x="7589520" y="4846320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A6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/ 07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E6C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" name="Image 0" descr="preencoded.png"/>
          <p:cNvPicPr>
            <a:picLocks noChangeAspect="1"/>
          </p:cNvPicPr>
          <p:nvPr/>
        </p:nvPicPr>
        <p:blipFill>
          <a:blip r:embed="rId3">
            <a:alphaModFix amt="38000"/>
          </a:blip>
          <a:srcRect/>
          <a:stretch/>
        </p:blipFill>
        <p:spPr>
          <a:xfrm>
            <a:off x="457200" y="0"/>
            <a:ext cx="8229600" cy="5143500"/>
          </a:xfrm>
          <a:prstGeom prst="rect">
            <a:avLst/>
          </a:prstGeom>
        </p:spPr>
      </p:pic>
      <p:sp>
        <p:nvSpPr>
          <p:cNvPr id="2" name="Text 0"/>
          <p:cNvSpPr/>
          <p:nvPr/>
        </p:nvSpPr>
        <p:spPr>
          <a:xfrm>
            <a:off x="548640" y="45720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400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 •  ТЕХНИКА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48640" y="292608"/>
            <a:ext cx="8138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000" b="1" dirty="0">
                <a:solidFill>
                  <a:srgbClr val="2B211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Пошаговая техника — пышный омлет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28700" y="1097280"/>
            <a:ext cx="502920" cy="502920"/>
          </a:xfrm>
          <a:prstGeom prst="ellipse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28700" y="10972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02920" y="169164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B211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Смешать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48640" y="2057400"/>
            <a:ext cx="14630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spcAft>
                <a:spcPts val="200"/>
              </a:spcAft>
              <a:buNone/>
            </a:pPr>
            <a:r>
              <a:rPr lang="en-US" sz="1000" dirty="0">
                <a:solidFill>
                  <a:srgbClr val="2B21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Яйца и молоко вилкой до однородности, без пены. Посолить, поперчить.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057400" y="1325880"/>
            <a:ext cx="91440" cy="54864"/>
          </a:xfrm>
          <a:prstGeom prst="rect">
            <a:avLst/>
          </a:prstGeom>
          <a:solidFill>
            <a:srgbClr val="7A6A5C"/>
          </a:solidFill>
          <a:ln w="12700">
            <a:solidFill>
              <a:srgbClr val="7A6A5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674620" y="1097280"/>
            <a:ext cx="502920" cy="502920"/>
          </a:xfrm>
          <a:prstGeom prst="ellipse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674620" y="10972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2148840" y="169164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B211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Растопить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2194560" y="2057400"/>
            <a:ext cx="14630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spcAft>
                <a:spcPts val="200"/>
              </a:spcAft>
              <a:buNone/>
            </a:pPr>
            <a:r>
              <a:rPr lang="en-US" sz="1000" dirty="0">
                <a:solidFill>
                  <a:srgbClr val="2B21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г масла в толстостенной сковороде 20–22 см на среднем огне.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703320" y="1325880"/>
            <a:ext cx="91440" cy="54864"/>
          </a:xfrm>
          <a:prstGeom prst="rect">
            <a:avLst/>
          </a:prstGeom>
          <a:solidFill>
            <a:srgbClr val="7A6A5C"/>
          </a:solidFill>
          <a:ln w="12700">
            <a:solidFill>
              <a:srgbClr val="7A6A5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320540" y="1097280"/>
            <a:ext cx="502920" cy="502920"/>
          </a:xfrm>
          <a:prstGeom prst="ellipse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320540" y="10972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3794760" y="169164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B211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Вылить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3840480" y="2057400"/>
            <a:ext cx="14630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spcAft>
                <a:spcPts val="200"/>
              </a:spcAft>
              <a:buNone/>
            </a:pPr>
            <a:r>
              <a:rPr lang="en-US" sz="1000" dirty="0">
                <a:solidFill>
                  <a:srgbClr val="2B21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Через 30–40 сек, когда масса начнёт густеть, убавить огонь и закрыть крышкой.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5349240" y="1325880"/>
            <a:ext cx="91440" cy="54864"/>
          </a:xfrm>
          <a:prstGeom prst="rect">
            <a:avLst/>
          </a:prstGeom>
          <a:solidFill>
            <a:srgbClr val="7A6A5C"/>
          </a:solidFill>
          <a:ln w="12700">
            <a:solidFill>
              <a:srgbClr val="7A6A5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966460" y="1097280"/>
            <a:ext cx="502920" cy="502920"/>
          </a:xfrm>
          <a:prstGeom prst="ellipse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966460" y="10972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5440680" y="169164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B211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Довести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5486400" y="2057400"/>
            <a:ext cx="14630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spcAft>
                <a:spcPts val="200"/>
              </a:spcAft>
              <a:buNone/>
            </a:pPr>
            <a:r>
              <a:rPr lang="en-US" sz="1000" dirty="0">
                <a:solidFill>
                  <a:srgbClr val="2B21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4–6 минут не перемешивая. Снять с огня, оставить под крышкой 30–60 сек.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6995160" y="1325880"/>
            <a:ext cx="91440" cy="54864"/>
          </a:xfrm>
          <a:prstGeom prst="rect">
            <a:avLst/>
          </a:prstGeom>
          <a:solidFill>
            <a:srgbClr val="7A6A5C"/>
          </a:solidFill>
          <a:ln w="12700">
            <a:solidFill>
              <a:srgbClr val="7A6A5C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612380" y="1097280"/>
            <a:ext cx="502920" cy="502920"/>
          </a:xfrm>
          <a:prstGeom prst="ellipse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612380" y="10972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05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7086600" y="169164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B211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Подать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7132320" y="2057400"/>
            <a:ext cx="14630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spcAft>
                <a:spcPts val="200"/>
              </a:spcAft>
              <a:buNone/>
            </a:pPr>
            <a:r>
              <a:rPr lang="en-US" sz="1000" dirty="0">
                <a:solidFill>
                  <a:srgbClr val="2B21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Выложить на тёплую тарелку, смазать оставшимся маслом, сыр и зелень сверху.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457200" y="3401568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i="1" dirty="0">
                <a:solidFill>
                  <a:srgbClr val="7A6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Пар и воздух делают омлет высоким — крышка держит жар</a:t>
            </a:r>
            <a:endParaRPr lang="en-US" sz="1000" dirty="0"/>
          </a:p>
        </p:txBody>
      </p:sp>
      <p:sp>
        <p:nvSpPr>
          <p:cNvPr id="31" name="Text 28"/>
          <p:cNvSpPr/>
          <p:nvPr/>
        </p:nvSpPr>
        <p:spPr>
          <a:xfrm>
            <a:off x="457200" y="4846320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A6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Искусство идеального омлета</a:t>
            </a:r>
            <a:endParaRPr lang="en-US" sz="900" dirty="0"/>
          </a:p>
        </p:txBody>
      </p:sp>
      <p:sp>
        <p:nvSpPr>
          <p:cNvPr id="32" name="Text 29"/>
          <p:cNvSpPr/>
          <p:nvPr/>
        </p:nvSpPr>
        <p:spPr>
          <a:xfrm>
            <a:off x="7589520" y="4846320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A6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/ 07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BF1D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400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 •  СЕКРЕТЫ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48640" y="292608"/>
            <a:ext cx="8138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000" b="1" dirty="0">
                <a:solidFill>
                  <a:srgbClr val="2B211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Секреты пышности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02920" y="1188720"/>
            <a:ext cx="384048" cy="384048"/>
          </a:xfrm>
          <a:prstGeom prst="ellipse">
            <a:avLst/>
          </a:prstGeom>
          <a:solidFill>
            <a:srgbClr val="6B8E4E"/>
          </a:solidFill>
          <a:ln w="12700">
            <a:solidFill>
              <a:srgbClr val="6B8E4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11887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1143000"/>
            <a:ext cx="4480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B21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Ингредиенты одной комнатной температуры — достаньте заранее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02920" y="1828800"/>
            <a:ext cx="384048" cy="384048"/>
          </a:xfrm>
          <a:prstGeom prst="ellipse">
            <a:avLst/>
          </a:prstGeom>
          <a:solidFill>
            <a:srgbClr val="6B8E4E"/>
          </a:solidFill>
          <a:ln w="12700">
            <a:solidFill>
              <a:srgbClr val="6B8E4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" y="18288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005840" y="1783080"/>
            <a:ext cx="4480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B21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Только ручное взбивание: миксер делает омлет резиновым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02920" y="2468880"/>
            <a:ext cx="384048" cy="384048"/>
          </a:xfrm>
          <a:prstGeom prst="ellipse">
            <a:avLst/>
          </a:prstGeom>
          <a:solidFill>
            <a:srgbClr val="6B8E4E"/>
          </a:solidFill>
          <a:ln w="12700">
            <a:solidFill>
              <a:srgbClr val="6B8E4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02920" y="24688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005840" y="2423160"/>
            <a:ext cx="4480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B21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Строго 1 ст. л. молока на 1 яйцо — без избытка жидкости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502920" y="3108960"/>
            <a:ext cx="384048" cy="384048"/>
          </a:xfrm>
          <a:prstGeom prst="ellipse">
            <a:avLst/>
          </a:prstGeom>
          <a:solidFill>
            <a:srgbClr val="6B8E4E"/>
          </a:solidFill>
          <a:ln w="12700">
            <a:solidFill>
              <a:srgbClr val="6B8E4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02920" y="31089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005840" y="3063240"/>
            <a:ext cx="4480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B21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Тяжёлая сковорода с толстым дном и плотная крышка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502920" y="3749040"/>
            <a:ext cx="384048" cy="384048"/>
          </a:xfrm>
          <a:prstGeom prst="ellipse">
            <a:avLst/>
          </a:prstGeom>
          <a:solidFill>
            <a:srgbClr val="6B8E4E"/>
          </a:solidFill>
          <a:ln w="12700">
            <a:solidFill>
              <a:srgbClr val="6B8E4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02920" y="37490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005840" y="3703320"/>
            <a:ext cx="4480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B21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Подавайте на подогретой тарелке — иначе омлет осядет</a:t>
            </a:r>
            <a:endParaRPr lang="en-US" sz="1300" dirty="0"/>
          </a:p>
        </p:txBody>
      </p:sp>
      <p:pic>
        <p:nvPicPr>
          <p:cNvPr id="20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5669280" y="1097280"/>
            <a:ext cx="3063240" cy="3337560"/>
          </a:xfrm>
          <a:prstGeom prst="rect">
            <a:avLst/>
          </a:prstGeom>
        </p:spPr>
      </p:pic>
      <p:sp>
        <p:nvSpPr>
          <p:cNvPr id="21" name="Text 18"/>
          <p:cNvSpPr/>
          <p:nvPr/>
        </p:nvSpPr>
        <p:spPr>
          <a:xfrm>
            <a:off x="5669280" y="4498848"/>
            <a:ext cx="3063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7A6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Пористая, нежная текстура — главный признак правильного омлета</a:t>
            </a:r>
            <a:endParaRPr lang="en-US" sz="900" dirty="0"/>
          </a:p>
        </p:txBody>
      </p:sp>
      <p:sp>
        <p:nvSpPr>
          <p:cNvPr id="22" name="Text 19"/>
          <p:cNvSpPr/>
          <p:nvPr/>
        </p:nvSpPr>
        <p:spPr>
          <a:xfrm>
            <a:off x="457200" y="4846320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A6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Искусство идеального омлета</a:t>
            </a:r>
            <a:endParaRPr lang="en-US" sz="900" dirty="0"/>
          </a:p>
        </p:txBody>
      </p:sp>
      <p:sp>
        <p:nvSpPr>
          <p:cNvPr id="23" name="Text 20"/>
          <p:cNvSpPr/>
          <p:nvPr/>
        </p:nvSpPr>
        <p:spPr>
          <a:xfrm>
            <a:off x="7589520" y="4846320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A6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/ 07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E6C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400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 •  ОШИБКИ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48640" y="292608"/>
            <a:ext cx="8138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000" b="1" dirty="0">
                <a:solidFill>
                  <a:srgbClr val="2B211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Главные ошибки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57200" y="1097280"/>
            <a:ext cx="2377440" cy="352044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3063240" y="1097280"/>
            <a:ext cx="5623560" cy="585216"/>
          </a:xfrm>
          <a:prstGeom prst="rect">
            <a:avLst/>
          </a:prstGeom>
          <a:solidFill>
            <a:srgbClr val="FFFFFF"/>
          </a:solidFill>
          <a:ln w="5080">
            <a:solidFill>
              <a:srgbClr val="7A6A5C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3063240" y="1097280"/>
            <a:ext cx="91440" cy="585216"/>
          </a:xfrm>
          <a:prstGeom prst="rect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3264408" y="1243584"/>
            <a:ext cx="310896" cy="310896"/>
          </a:xfrm>
          <a:prstGeom prst="ellipse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3264408" y="124358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X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3657600" y="1143000"/>
            <a:ext cx="25603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B211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Разная температура ингредиентов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6263640" y="1143000"/>
            <a:ext cx="3657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7A6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-&gt;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6629400" y="1143000"/>
            <a:ext cx="20116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8E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Достаньте яйца и молоко за 30–40 минут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3063240" y="1755648"/>
            <a:ext cx="5623560" cy="585216"/>
          </a:xfrm>
          <a:prstGeom prst="rect">
            <a:avLst/>
          </a:prstGeom>
          <a:solidFill>
            <a:srgbClr val="FFFFFF"/>
          </a:solidFill>
          <a:ln w="5080">
            <a:solidFill>
              <a:srgbClr val="7A6A5C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3063240" y="1755648"/>
            <a:ext cx="91440" cy="585216"/>
          </a:xfrm>
          <a:prstGeom prst="rect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3264408" y="1901952"/>
            <a:ext cx="310896" cy="310896"/>
          </a:xfrm>
          <a:prstGeom prst="ellipse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3264408" y="190195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X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3657600" y="1801368"/>
            <a:ext cx="25603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B211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Взбивание миксером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6263640" y="1801368"/>
            <a:ext cx="3657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7A6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-&gt;</a:t>
            </a:r>
            <a:endParaRPr lang="en-US" sz="1400" dirty="0"/>
          </a:p>
        </p:txBody>
      </p:sp>
      <p:sp>
        <p:nvSpPr>
          <p:cNvPr id="19" name="Text 16"/>
          <p:cNvSpPr/>
          <p:nvPr/>
        </p:nvSpPr>
        <p:spPr>
          <a:xfrm>
            <a:off x="6629400" y="1801368"/>
            <a:ext cx="20116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8E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Только вилка или венчик, без крупных пузырей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3063240" y="2414016"/>
            <a:ext cx="5623560" cy="585216"/>
          </a:xfrm>
          <a:prstGeom prst="rect">
            <a:avLst/>
          </a:prstGeom>
          <a:solidFill>
            <a:srgbClr val="FFFFFF"/>
          </a:solidFill>
          <a:ln w="5080">
            <a:solidFill>
              <a:srgbClr val="7A6A5C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3063240" y="2414016"/>
            <a:ext cx="91440" cy="585216"/>
          </a:xfrm>
          <a:prstGeom prst="rect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3264408" y="2560320"/>
            <a:ext cx="310896" cy="310896"/>
          </a:xfrm>
          <a:prstGeom prst="ellipse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3264408" y="256032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X</a:t>
            </a:r>
            <a:endParaRPr lang="en-US" sz="1200" dirty="0"/>
          </a:p>
        </p:txBody>
      </p:sp>
      <p:sp>
        <p:nvSpPr>
          <p:cNvPr id="24" name="Text 21"/>
          <p:cNvSpPr/>
          <p:nvPr/>
        </p:nvSpPr>
        <p:spPr>
          <a:xfrm>
            <a:off x="3657600" y="2459736"/>
            <a:ext cx="25603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B211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Избыток жидкости</a:t>
            </a:r>
            <a:endParaRPr lang="en-US" sz="1200" dirty="0"/>
          </a:p>
        </p:txBody>
      </p:sp>
      <p:sp>
        <p:nvSpPr>
          <p:cNvPr id="25" name="Text 22"/>
          <p:cNvSpPr/>
          <p:nvPr/>
        </p:nvSpPr>
        <p:spPr>
          <a:xfrm>
            <a:off x="6263640" y="2459736"/>
            <a:ext cx="3657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7A6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-&gt;</a:t>
            </a:r>
            <a:endParaRPr lang="en-US" sz="1400" dirty="0"/>
          </a:p>
        </p:txBody>
      </p:sp>
      <p:sp>
        <p:nvSpPr>
          <p:cNvPr id="26" name="Text 23"/>
          <p:cNvSpPr/>
          <p:nvPr/>
        </p:nvSpPr>
        <p:spPr>
          <a:xfrm>
            <a:off x="6629400" y="2459736"/>
            <a:ext cx="20116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8E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ст. л. молока на 1 яйцо — строго</a:t>
            </a:r>
            <a:endParaRPr lang="en-US" sz="1100" dirty="0"/>
          </a:p>
        </p:txBody>
      </p:sp>
      <p:sp>
        <p:nvSpPr>
          <p:cNvPr id="27" name="Shape 24"/>
          <p:cNvSpPr/>
          <p:nvPr/>
        </p:nvSpPr>
        <p:spPr>
          <a:xfrm>
            <a:off x="3063240" y="3072384"/>
            <a:ext cx="5623560" cy="585216"/>
          </a:xfrm>
          <a:prstGeom prst="rect">
            <a:avLst/>
          </a:prstGeom>
          <a:solidFill>
            <a:srgbClr val="FFFFFF"/>
          </a:solidFill>
          <a:ln w="5080">
            <a:solidFill>
              <a:srgbClr val="7A6A5C"/>
            </a:solidFill>
            <a:prstDash val="solid"/>
          </a:ln>
        </p:spPr>
      </p:sp>
      <p:sp>
        <p:nvSpPr>
          <p:cNvPr id="28" name="Shape 25"/>
          <p:cNvSpPr/>
          <p:nvPr/>
        </p:nvSpPr>
        <p:spPr>
          <a:xfrm>
            <a:off x="3063240" y="3072384"/>
            <a:ext cx="91440" cy="585216"/>
          </a:xfrm>
          <a:prstGeom prst="rect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29" name="Shape 26"/>
          <p:cNvSpPr/>
          <p:nvPr/>
        </p:nvSpPr>
        <p:spPr>
          <a:xfrm>
            <a:off x="3264408" y="3218688"/>
            <a:ext cx="310896" cy="310896"/>
          </a:xfrm>
          <a:prstGeom prst="ellipse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3264408" y="321868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X</a:t>
            </a:r>
            <a:endParaRPr lang="en-US" sz="1200" dirty="0"/>
          </a:p>
        </p:txBody>
      </p:sp>
      <p:sp>
        <p:nvSpPr>
          <p:cNvPr id="31" name="Text 28"/>
          <p:cNvSpPr/>
          <p:nvPr/>
        </p:nvSpPr>
        <p:spPr>
          <a:xfrm>
            <a:off x="3657600" y="3118104"/>
            <a:ext cx="25603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B211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Тонкая сковорода</a:t>
            </a:r>
            <a:endParaRPr lang="en-US" sz="1200" dirty="0"/>
          </a:p>
        </p:txBody>
      </p:sp>
      <p:sp>
        <p:nvSpPr>
          <p:cNvPr id="32" name="Text 29"/>
          <p:cNvSpPr/>
          <p:nvPr/>
        </p:nvSpPr>
        <p:spPr>
          <a:xfrm>
            <a:off x="6263640" y="3118104"/>
            <a:ext cx="3657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7A6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-&gt;</a:t>
            </a:r>
            <a:endParaRPr lang="en-US" sz="1400" dirty="0"/>
          </a:p>
        </p:txBody>
      </p:sp>
      <p:sp>
        <p:nvSpPr>
          <p:cNvPr id="33" name="Text 30"/>
          <p:cNvSpPr/>
          <p:nvPr/>
        </p:nvSpPr>
        <p:spPr>
          <a:xfrm>
            <a:off x="6629400" y="3118104"/>
            <a:ext cx="20116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8E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Тяжёлая сковорода с толстым дном</a:t>
            </a:r>
            <a:endParaRPr lang="en-US" sz="1100" dirty="0"/>
          </a:p>
        </p:txBody>
      </p:sp>
      <p:sp>
        <p:nvSpPr>
          <p:cNvPr id="34" name="Shape 31"/>
          <p:cNvSpPr/>
          <p:nvPr/>
        </p:nvSpPr>
        <p:spPr>
          <a:xfrm>
            <a:off x="3063240" y="3730752"/>
            <a:ext cx="5623560" cy="585216"/>
          </a:xfrm>
          <a:prstGeom prst="rect">
            <a:avLst/>
          </a:prstGeom>
          <a:solidFill>
            <a:srgbClr val="FFFFFF"/>
          </a:solidFill>
          <a:ln w="5080">
            <a:solidFill>
              <a:srgbClr val="7A6A5C"/>
            </a:solidFill>
            <a:prstDash val="solid"/>
          </a:ln>
        </p:spPr>
      </p:sp>
      <p:sp>
        <p:nvSpPr>
          <p:cNvPr id="35" name="Shape 32"/>
          <p:cNvSpPr/>
          <p:nvPr/>
        </p:nvSpPr>
        <p:spPr>
          <a:xfrm>
            <a:off x="3063240" y="3730752"/>
            <a:ext cx="91440" cy="585216"/>
          </a:xfrm>
          <a:prstGeom prst="rect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36" name="Shape 33"/>
          <p:cNvSpPr/>
          <p:nvPr/>
        </p:nvSpPr>
        <p:spPr>
          <a:xfrm>
            <a:off x="3264408" y="3877056"/>
            <a:ext cx="310896" cy="310896"/>
          </a:xfrm>
          <a:prstGeom prst="ellipse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37" name="Text 34"/>
          <p:cNvSpPr/>
          <p:nvPr/>
        </p:nvSpPr>
        <p:spPr>
          <a:xfrm>
            <a:off x="3264408" y="387705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X</a:t>
            </a:r>
            <a:endParaRPr lang="en-US" sz="1200" dirty="0"/>
          </a:p>
        </p:txBody>
      </p:sp>
      <p:sp>
        <p:nvSpPr>
          <p:cNvPr id="38" name="Text 35"/>
          <p:cNvSpPr/>
          <p:nvPr/>
        </p:nvSpPr>
        <p:spPr>
          <a:xfrm>
            <a:off x="3657600" y="3776472"/>
            <a:ext cx="25603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B211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Резкое охлаждение</a:t>
            </a:r>
            <a:endParaRPr lang="en-US" sz="1200" dirty="0"/>
          </a:p>
        </p:txBody>
      </p:sp>
      <p:sp>
        <p:nvSpPr>
          <p:cNvPr id="39" name="Text 36"/>
          <p:cNvSpPr/>
          <p:nvPr/>
        </p:nvSpPr>
        <p:spPr>
          <a:xfrm>
            <a:off x="6263640" y="3776472"/>
            <a:ext cx="3657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7A6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-&gt;</a:t>
            </a:r>
            <a:endParaRPr lang="en-US" sz="1400" dirty="0"/>
          </a:p>
        </p:txBody>
      </p:sp>
      <p:sp>
        <p:nvSpPr>
          <p:cNvPr id="40" name="Text 37"/>
          <p:cNvSpPr/>
          <p:nvPr/>
        </p:nvSpPr>
        <p:spPr>
          <a:xfrm>
            <a:off x="6629400" y="3776472"/>
            <a:ext cx="20116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8E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Оставьте под крышкой 30–60 сек, тёплая тарелка</a:t>
            </a:r>
            <a:endParaRPr lang="en-US" sz="1100" dirty="0"/>
          </a:p>
        </p:txBody>
      </p:sp>
      <p:sp>
        <p:nvSpPr>
          <p:cNvPr id="41" name="Text 38"/>
          <p:cNvSpPr/>
          <p:nvPr/>
        </p:nvSpPr>
        <p:spPr>
          <a:xfrm>
            <a:off x="3063240" y="4572000"/>
            <a:ext cx="5623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i="1" dirty="0">
                <a:solidFill>
                  <a:srgbClr val="7A6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Ошибка -&gt; Решение</a:t>
            </a:r>
            <a:endParaRPr lang="en-US" sz="900" dirty="0"/>
          </a:p>
        </p:txBody>
      </p:sp>
      <p:sp>
        <p:nvSpPr>
          <p:cNvPr id="42" name="Text 39"/>
          <p:cNvSpPr/>
          <p:nvPr/>
        </p:nvSpPr>
        <p:spPr>
          <a:xfrm>
            <a:off x="457200" y="4846320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A6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Искусство идеального омлета</a:t>
            </a:r>
            <a:endParaRPr lang="en-US" sz="900" dirty="0"/>
          </a:p>
        </p:txBody>
      </p:sp>
      <p:sp>
        <p:nvSpPr>
          <p:cNvPr id="43" name="Text 40"/>
          <p:cNvSpPr/>
          <p:nvPr/>
        </p:nvSpPr>
        <p:spPr>
          <a:xfrm>
            <a:off x="7589520" y="4846320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A6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/ 07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A120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A120B">
              <a:alpha val="75000"/>
            </a:srgbClr>
          </a:solidFill>
          <a:ln w="12700">
            <a:solidFill>
              <a:srgbClr val="1A120B"/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457200" y="1417320"/>
            <a:ext cx="73152" cy="1554480"/>
          </a:xfrm>
          <a:prstGeom prst="rect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685800" y="14173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F5E6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ПРИЯТНОГО АППЕТИТА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685800" y="1691640"/>
            <a:ext cx="8229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Омлет — это просто,</a:t>
            </a:r>
            <a:endParaRPr lang="en-US" sz="3600" dirty="0"/>
          </a:p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если знать секреты.</a:t>
            </a:r>
            <a:endParaRPr lang="en-US" sz="3600" dirty="0"/>
          </a:p>
        </p:txBody>
      </p:sp>
      <p:sp>
        <p:nvSpPr>
          <p:cNvPr id="7" name="Text 4"/>
          <p:cNvSpPr/>
          <p:nvPr/>
        </p:nvSpPr>
        <p:spPr>
          <a:xfrm>
            <a:off x="685800" y="2926080"/>
            <a:ext cx="7315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200"/>
              </a:spcAft>
              <a:buNone/>
            </a:pPr>
            <a:r>
              <a:rPr lang="en-US" sz="1400" dirty="0">
                <a:solidFill>
                  <a:srgbClr val="F5E6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Экспериментируйте с начинками: ветчина, грибы, томаты черри, моцарелла, шпинат или копчёный лосось — пышный омлет примет любой вкус.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685800" y="4023360"/>
            <a:ext cx="2011680" cy="411480"/>
          </a:xfrm>
          <a:prstGeom prst="roundRect">
            <a:avLst>
              <a:gd name="adj" fmla="val 13333"/>
            </a:avLst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685800" y="402336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Готовим завтра утром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7589520" y="4846320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A6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/ 07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457200" y="4846320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A6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Кулинарная школа  •  Завтрак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Стандартная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488</Words>
  <Application>Microsoft Macintosh PowerPoint</Application>
  <PresentationFormat>Экран (16:9)</PresentationFormat>
  <Paragraphs>108</Paragraphs>
  <Slides>7</Slides>
  <Notes>7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7</vt:i4>
      </vt:variant>
    </vt:vector>
  </HeadingPairs>
  <TitlesOfParts>
    <vt:vector size="11" baseType="lpstr">
      <vt:lpstr>Arial</vt:lpstr>
      <vt:lpstr>Calibri</vt:lpstr>
      <vt:lpstr>Georgia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>Deck Generator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Искусство идеального омлета</dc:title>
  <dc:subject>PptxGenJS Presentation</dc:subject>
  <dc:creator>Кулинарная школа</dc:creator>
  <cp:lastModifiedBy>m13259</cp:lastModifiedBy>
  <cp:revision>3</cp:revision>
  <dcterms:created xsi:type="dcterms:W3CDTF">2026-06-15T04:36:05Z</dcterms:created>
  <dcterms:modified xsi:type="dcterms:W3CDTF">2026-06-15T04:40:26Z</dcterms:modified>
</cp:coreProperties>
</file>