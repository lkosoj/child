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A0E0E">
              <a:alpha val="6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2743200"/>
            <a:ext cx="5852160" cy="2194560"/>
          </a:xfrm>
          <a:prstGeom prst="rect">
            <a:avLst/>
          </a:prstGeom>
          <a:solidFill>
            <a:srgbClr val="2A0E0E">
              <a:alpha val="85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457200" y="502920"/>
            <a:ext cx="320040" cy="36576"/>
          </a:xfrm>
          <a:prstGeom prst="rect">
            <a:avLst/>
          </a:prstGeom>
          <a:solidFill>
            <a:srgbClr val="F2C57C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4114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0" kern="0" dirty="0">
                <a:solidFill>
                  <a:srgbClr val="F2C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ЗИМНИЙ НАПИТОК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288036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800" b="1" dirty="0">
                <a:solidFill>
                  <a:srgbClr val="FBF5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Лучший глинтвейн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457200" y="3822192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2C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 согревающего напитка и проверенный рецепт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57200" y="4407408"/>
            <a:ext cx="457200" cy="27432"/>
          </a:xfrm>
          <a:prstGeom prst="rect">
            <a:avLst/>
          </a:prstGeom>
          <a:solidFill>
            <a:srgbClr val="D2691E"/>
          </a:solidFill>
          <a:ln/>
        </p:spPr>
      </p:sp>
      <p:sp>
        <p:nvSpPr>
          <p:cNvPr id="10" name="Text 7"/>
          <p:cNvSpPr/>
          <p:nvPr/>
        </p:nvSpPr>
        <p:spPr>
          <a:xfrm>
            <a:off x="1005840" y="431596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F2C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Корица · Гвоздика · Апельсин · Бадьян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406640" y="4114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800" kern="0" dirty="0">
                <a:solidFill>
                  <a:srgbClr val="F2C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09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0" kern="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ОПРЕДЕЛЕНИЕ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589520" y="292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400" kern="0" dirty="0">
                <a:solidFill>
                  <a:srgbClr val="8B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09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A0E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Что такое глинтвейн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548640" cy="36576"/>
          </a:xfrm>
          <a:prstGeom prst="rect">
            <a:avLst/>
          </a:prstGeom>
          <a:solidFill>
            <a:srgbClr val="D2691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645920"/>
            <a:ext cx="42976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400" b="1" dirty="0">
                <a:solidFill>
                  <a:srgbClr val="2A0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Глинтвейн (Glühwein) — горячее вино со специями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3D2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Температура подачи — 70–80 °C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3D2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Алкоголь сохраняется, но часть эфиров улетучивается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3D2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Согревает, тонизирует, создаёт праздничную атмосферу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3D2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Подаётся в керамических или стеклянных кружках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4160520"/>
            <a:ext cx="4297680" cy="594360"/>
          </a:xfrm>
          <a:prstGeom prst="rect">
            <a:avLst/>
          </a:prstGeom>
          <a:solidFill>
            <a:srgbClr val="5A1A1A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42062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C5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70–80 °C</a:t>
            </a:r>
            <a:pPr indent="0" marL="0">
              <a:buNone/>
            </a:pPr>
            <a:r>
              <a:rPr lang="en-US" sz="1100" dirty="0">
                <a:solidFill>
                  <a:srgbClr val="FB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идеальная температура подачи</a:t>
            </a:r>
            <a:endParaRPr lang="en-US" sz="1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983480" y="1143000"/>
            <a:ext cx="3749040" cy="2606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983480" y="379476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B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Пряности, цитрус и подогретое вино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983480" y="4023360"/>
            <a:ext cx="365760" cy="27432"/>
          </a:xfrm>
          <a:prstGeom prst="rect">
            <a:avLst/>
          </a:prstGeom>
          <a:solidFill>
            <a:srgbClr val="D2691E"/>
          </a:solidFill>
          <a:ln/>
        </p:spPr>
      </p:sp>
      <p:sp>
        <p:nvSpPr>
          <p:cNvPr id="12" name="Text 9"/>
          <p:cNvSpPr/>
          <p:nvPr/>
        </p:nvSpPr>
        <p:spPr>
          <a:xfrm>
            <a:off x="5349240" y="411480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2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XVI века на рождественских ярмарках Европы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57200" y="4864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B89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Глинтвейн · Определение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7315200" y="48646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400" kern="0" dirty="0">
                <a:solidFill>
                  <a:srgbClr val="B89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09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A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A0E0E">
              <a:alpha val="7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292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0" kern="0" dirty="0">
                <a:solidFill>
                  <a:srgbClr val="F2C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589520" y="292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400" kern="0" dirty="0">
                <a:solidFill>
                  <a:srgbClr val="8B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09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BF5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От Древнего Рима до средневековых ярмарок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457200" y="1417320"/>
            <a:ext cx="548640" cy="36576"/>
          </a:xfrm>
          <a:prstGeom prst="rect">
            <a:avLst/>
          </a:prstGeom>
          <a:solidFill>
            <a:srgbClr val="D2691E"/>
          </a:solidFill>
          <a:ln/>
        </p:spPr>
      </p:sp>
      <p:sp>
        <p:nvSpPr>
          <p:cNvPr id="8" name="Shape 5"/>
          <p:cNvSpPr/>
          <p:nvPr/>
        </p:nvSpPr>
        <p:spPr>
          <a:xfrm>
            <a:off x="640080" y="2331720"/>
            <a:ext cx="7863840" cy="27432"/>
          </a:xfrm>
          <a:prstGeom prst="rect">
            <a:avLst/>
          </a:prstGeom>
          <a:solidFill>
            <a:srgbClr val="F2C57C"/>
          </a:solidFill>
          <a:ln/>
        </p:spPr>
      </p:sp>
      <p:sp>
        <p:nvSpPr>
          <p:cNvPr id="9" name="Shape 6"/>
          <p:cNvSpPr/>
          <p:nvPr/>
        </p:nvSpPr>
        <p:spPr>
          <a:xfrm>
            <a:off x="566928" y="2258568"/>
            <a:ext cx="164592" cy="164592"/>
          </a:xfrm>
          <a:prstGeom prst="ellipse">
            <a:avLst/>
          </a:prstGeom>
          <a:solidFill>
            <a:srgbClr val="D2691E"/>
          </a:solidFill>
          <a:ln w="12700">
            <a:solidFill>
              <a:srgbClr val="FBF5E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" y="1828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C5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в. н.э.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0" y="251460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B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Древний Рим: vinum conditum — вино с мёдом и пряностями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624328" y="2258568"/>
            <a:ext cx="164592" cy="164592"/>
          </a:xfrm>
          <a:prstGeom prst="ellipse">
            <a:avLst/>
          </a:prstGeom>
          <a:solidFill>
            <a:srgbClr val="D2691E"/>
          </a:solidFill>
          <a:ln w="12700">
            <a:solidFill>
              <a:srgbClr val="FBF5E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148840" y="1828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C5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XII–XIII вв.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057400" y="251460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B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«Гипокрас» — пряное подогретое вино в Европе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681728" y="2258568"/>
            <a:ext cx="164592" cy="164592"/>
          </a:xfrm>
          <a:prstGeom prst="ellipse">
            <a:avLst/>
          </a:prstGeom>
          <a:solidFill>
            <a:srgbClr val="D2691E"/>
          </a:solidFill>
          <a:ln w="12700">
            <a:solidFill>
              <a:srgbClr val="FBF5E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206240" y="1828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C5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1390 г.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114800" y="251460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B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Немецкий рецепт Hypocras с корицей, имбирём, гвоздикой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739128" y="2258568"/>
            <a:ext cx="164592" cy="164592"/>
          </a:xfrm>
          <a:prstGeom prst="ellipse">
            <a:avLst/>
          </a:prstGeom>
          <a:solidFill>
            <a:srgbClr val="D2691E"/>
          </a:solidFill>
          <a:ln w="12700">
            <a:solidFill>
              <a:srgbClr val="FBF5E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63640" y="1828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C5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XV–XIX вв.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172200" y="251460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B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Через Альпы в Германию, Скандинавию, Прибалтику, Россию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57200" y="4864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B89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Происхождение напитка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7315200" y="48646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400" kern="0" dirty="0">
                <a:solidFill>
                  <a:srgbClr val="B89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09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0" kern="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ГЕОГРАФИЯ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589520" y="292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400" kern="0" dirty="0">
                <a:solidFill>
                  <a:srgbClr val="8B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09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A0E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Путь в разные страны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548640" cy="36576"/>
          </a:xfrm>
          <a:prstGeom prst="rect">
            <a:avLst/>
          </a:prstGeom>
          <a:solidFill>
            <a:srgbClr val="D2691E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600200"/>
            <a:ext cx="3886200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C9A0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00200"/>
            <a:ext cx="3886200" cy="91440"/>
          </a:xfrm>
          <a:prstGeom prst="rect">
            <a:avLst/>
          </a:prstGeom>
          <a:solidFill>
            <a:srgbClr val="D2691E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78308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СЕВЕРНАЯ ЕВРОПА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205740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0E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Скандинавия и Британские острова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2651760"/>
            <a:ext cx="3429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2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Скандинавия: </a:t>
            </a:r>
            <a:pPr indent="0" marL="0">
              <a:buNone/>
            </a:pPr>
            <a:r>
              <a:rPr lang="en-US" sz="1100" dirty="0">
                <a:solidFill>
                  <a:srgbClr val="3D2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glögg — с миндалём и изюмом, подают на праздники</a:t>
            </a:r>
            <a:endParaRPr lang="en-US" sz="11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D2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Великобритания: </a:t>
            </a:r>
            <a:pPr indent="0" marL="0">
              <a:buNone/>
            </a:pPr>
            <a:r>
              <a:rPr lang="en-US" sz="1100" dirty="0">
                <a:solidFill>
                  <a:srgbClr val="3D2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mulled wine с тёмным пивом или портвейном</a:t>
            </a:r>
            <a:endParaRPr lang="en-US" sz="11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D2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Германия, Австрия: </a:t>
            </a:r>
            <a:pPr indent="0" marL="0">
              <a:buNone/>
            </a:pPr>
            <a:r>
              <a:rPr lang="en-US" sz="1100" dirty="0">
                <a:solidFill>
                  <a:srgbClr val="3D2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Glühwein с рождественских рынков Christkindlmarkt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00600" y="1600200"/>
            <a:ext cx="3886200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C9A0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00600" y="1600200"/>
            <a:ext cx="3886200" cy="91440"/>
          </a:xfrm>
          <a:prstGeom prst="rect">
            <a:avLst/>
          </a:prstGeom>
          <a:solidFill>
            <a:srgbClr val="5A1A1A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178308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5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ВОСТОЧНАЯ ЕВРОПА И РОССИЯ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0" y="205740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0E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От Праги до Петербурга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29200" y="2651760"/>
            <a:ext cx="3429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2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Чехия, Венгрия: </a:t>
            </a:r>
            <a:pPr indent="0" marL="0">
              <a:buNone/>
            </a:pPr>
            <a:r>
              <a:rPr lang="en-US" sz="1100" dirty="0">
                <a:solidFill>
                  <a:srgbClr val="3D2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svařák, forralt bor, főzött bor</a:t>
            </a:r>
            <a:endParaRPr lang="en-US" sz="11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D2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Прибалтика: </a:t>
            </a:r>
            <a:pPr indent="0" marL="0">
              <a:buNone/>
            </a:pPr>
            <a:r>
              <a:rPr lang="en-US" sz="1100" dirty="0">
                <a:solidFill>
                  <a:srgbClr val="3D2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karstvīns, глинтвейн на ярмарках Риги</a:t>
            </a:r>
            <a:endParaRPr lang="en-US" sz="11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D2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Россия XIX в.: </a:t>
            </a:r>
            <a:pPr indent="0" marL="0">
              <a:buNone/>
            </a:pPr>
            <a:r>
              <a:rPr lang="en-US" sz="1100" dirty="0">
                <a:solidFill>
                  <a:srgbClr val="3D2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«глинтвейн» от нем. Glühwein — «пылающее вино»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864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B89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Путь в разные страны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315200" y="48646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400" kern="0" dirty="0">
                <a:solidFill>
                  <a:srgbClr val="B89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09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0" kern="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ИНГРЕДИЕНТЫ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589520" y="292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400" kern="0" dirty="0">
                <a:solidFill>
                  <a:srgbClr val="8B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09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A0E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Классические ингредиенты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548640" cy="36576"/>
          </a:xfrm>
          <a:prstGeom prst="rect">
            <a:avLst/>
          </a:prstGeom>
          <a:solidFill>
            <a:srgbClr val="D2691E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554480"/>
            <a:ext cx="320040" cy="320040"/>
          </a:xfrm>
          <a:prstGeom prst="ellipse">
            <a:avLst/>
          </a:prstGeom>
          <a:solidFill>
            <a:srgbClr val="5A1A1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554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C5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15361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0E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Красное сухое вино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18013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750 мл, не крепленое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88920" y="1554480"/>
            <a:ext cx="320040" cy="320040"/>
          </a:xfrm>
          <a:prstGeom prst="ellipse">
            <a:avLst/>
          </a:prstGeom>
          <a:solidFill>
            <a:srgbClr val="5A1A1A"/>
          </a:solidFill>
          <a:ln/>
        </p:spPr>
      </p:sp>
      <p:sp>
        <p:nvSpPr>
          <p:cNvPr id="11" name="Text 9"/>
          <p:cNvSpPr/>
          <p:nvPr/>
        </p:nvSpPr>
        <p:spPr>
          <a:xfrm>
            <a:off x="2788920" y="1554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C5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0" y="15361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0E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Цитрус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0" y="18013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апельсин + ½ лимона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514600"/>
            <a:ext cx="320040" cy="320040"/>
          </a:xfrm>
          <a:prstGeom prst="ellipse">
            <a:avLst/>
          </a:prstGeom>
          <a:solidFill>
            <a:srgbClr val="5A1A1A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514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C5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8680" y="24963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0E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Корица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8680" y="27614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палочки или 1 ч. л. молотой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88920" y="2514600"/>
            <a:ext cx="320040" cy="320040"/>
          </a:xfrm>
          <a:prstGeom prst="ellipse">
            <a:avLst/>
          </a:prstGeom>
          <a:solidFill>
            <a:srgbClr val="5A1A1A"/>
          </a:solidFill>
          <a:ln/>
        </p:spPr>
      </p:sp>
      <p:sp>
        <p:nvSpPr>
          <p:cNvPr id="19" name="Text 17"/>
          <p:cNvSpPr/>
          <p:nvPr/>
        </p:nvSpPr>
        <p:spPr>
          <a:xfrm>
            <a:off x="2788920" y="2514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C5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00400" y="24963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0E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Гвоздика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00400" y="27614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5–7 бутонов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474720"/>
            <a:ext cx="320040" cy="320040"/>
          </a:xfrm>
          <a:prstGeom prst="ellipse">
            <a:avLst/>
          </a:prstGeom>
          <a:solidFill>
            <a:srgbClr val="5A1A1A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474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C5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68680" y="34564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0E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Бадьян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68680" y="37216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звёздочки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88920" y="3474720"/>
            <a:ext cx="320040" cy="320040"/>
          </a:xfrm>
          <a:prstGeom prst="ellipse">
            <a:avLst/>
          </a:prstGeom>
          <a:solidFill>
            <a:srgbClr val="5A1A1A"/>
          </a:solidFill>
          <a:ln/>
        </p:spPr>
      </p:sp>
      <p:sp>
        <p:nvSpPr>
          <p:cNvPr id="27" name="Text 25"/>
          <p:cNvSpPr/>
          <p:nvPr/>
        </p:nvSpPr>
        <p:spPr>
          <a:xfrm>
            <a:off x="2788920" y="3474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C5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00400" y="34564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0E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Мёд или сахар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200400" y="37216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ст. л. по вкусу</a:t>
            </a:r>
            <a:endParaRPr lang="en-US" sz="1000" dirty="0"/>
          </a:p>
        </p:txBody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49240" y="1554480"/>
            <a:ext cx="3383280" cy="192024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5349240" y="352044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B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Специи, цитрус и красное вино — классическая база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5349240" y="3749040"/>
            <a:ext cx="3383280" cy="27432"/>
          </a:xfrm>
          <a:prstGeom prst="rect">
            <a:avLst/>
          </a:prstGeom>
          <a:solidFill>
            <a:srgbClr val="D2691E"/>
          </a:solidFill>
          <a:ln/>
        </p:spPr>
      </p:sp>
      <p:sp>
        <p:nvSpPr>
          <p:cNvPr id="33" name="Text 30"/>
          <p:cNvSpPr/>
          <p:nvPr/>
        </p:nvSpPr>
        <p:spPr>
          <a:xfrm>
            <a:off x="5349240" y="382219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D2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Базовый набор: 6 элементов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457200" y="4864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B89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Классические ингредиенты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7315200" y="48646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400" kern="0" dirty="0">
                <a:solidFill>
                  <a:srgbClr val="B89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09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0" kern="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РЕЦЕПТ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589520" y="292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400" kern="0" dirty="0">
                <a:solidFill>
                  <a:srgbClr val="8B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09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A0E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Пошаговый рецепт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548640" cy="36576"/>
          </a:xfrm>
          <a:prstGeom prst="rect">
            <a:avLst/>
          </a:prstGeom>
          <a:solidFill>
            <a:srgbClr val="D2691E"/>
          </a:solidFill>
          <a:ln/>
        </p:spPr>
      </p:sp>
      <p:sp>
        <p:nvSpPr>
          <p:cNvPr id="6" name="Shape 4"/>
          <p:cNvSpPr/>
          <p:nvPr/>
        </p:nvSpPr>
        <p:spPr>
          <a:xfrm>
            <a:off x="699516" y="2057400"/>
            <a:ext cx="27432" cy="82296"/>
          </a:xfrm>
          <a:prstGeom prst="rect">
            <a:avLst/>
          </a:prstGeom>
          <a:solidFill>
            <a:srgbClr val="C9A06B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554480"/>
            <a:ext cx="502920" cy="502920"/>
          </a:xfrm>
          <a:prstGeom prst="ellipse">
            <a:avLst/>
          </a:prstGeom>
          <a:solidFill>
            <a:srgbClr val="5A1A1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C5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15361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0E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Подготовка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18288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Снять с апельсина и лимона цедру тонкими полосками. Нарезать фрукты кружочками.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99516" y="2660904"/>
            <a:ext cx="27432" cy="82296"/>
          </a:xfrm>
          <a:prstGeom prst="rect">
            <a:avLst/>
          </a:prstGeom>
          <a:solidFill>
            <a:srgbClr val="C9A06B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2157984"/>
            <a:ext cx="502920" cy="502920"/>
          </a:xfrm>
          <a:prstGeom prst="ellipse">
            <a:avLst/>
          </a:prstGeom>
          <a:solidFill>
            <a:srgbClr val="5A1A1A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1579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C5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213969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0E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Смешивание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243230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кастрюлю влить вино, добавить цедру, фрукты, специи. Сахар пока не класть.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99516" y="3264408"/>
            <a:ext cx="27432" cy="82296"/>
          </a:xfrm>
          <a:prstGeom prst="rect">
            <a:avLst/>
          </a:prstGeom>
          <a:solidFill>
            <a:srgbClr val="C9A06B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2761488"/>
            <a:ext cx="502920" cy="502920"/>
          </a:xfrm>
          <a:prstGeom prst="ellipse">
            <a:avLst/>
          </a:prstGeom>
          <a:solidFill>
            <a:srgbClr val="5A1A1A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761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C5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7280" y="27432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0E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Нагрев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" y="303580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Медленно нагреть на среднем огне до 70–80 °C. Не кипятить — иначе уйдёт аромат.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99516" y="3867912"/>
            <a:ext cx="27432" cy="82296"/>
          </a:xfrm>
          <a:prstGeom prst="rect">
            <a:avLst/>
          </a:prstGeom>
          <a:solidFill>
            <a:srgbClr val="C9A06B"/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" y="3364992"/>
            <a:ext cx="502920" cy="502920"/>
          </a:xfrm>
          <a:prstGeom prst="ellipse">
            <a:avLst/>
          </a:prstGeom>
          <a:solidFill>
            <a:srgbClr val="5A1A1A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364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C5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97280" y="334670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0E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Настаивание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97280" y="363931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Снять с огня, накрыть крышкой, дать постоять 20–30 минут. Добавить мёд, размешать.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3968496"/>
            <a:ext cx="502920" cy="502920"/>
          </a:xfrm>
          <a:prstGeom prst="ellipse">
            <a:avLst/>
          </a:prstGeom>
          <a:solidFill>
            <a:srgbClr val="5A1A1A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39684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C5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97280" y="39502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0E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Подача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97280" y="424281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Процедить, разлить по тёплым кружкам, украсить долькой апельсина и корицей.</a:t>
            </a:r>
            <a:endParaRPr lang="en-US" sz="900" dirty="0"/>
          </a:p>
        </p:txBody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0" y="1417320"/>
            <a:ext cx="3703320" cy="246888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5029200" y="3931920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B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Главное — не кипятить, только подогреть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5029200" y="4206240"/>
            <a:ext cx="3703320" cy="502920"/>
          </a:xfrm>
          <a:prstGeom prst="rect">
            <a:avLst/>
          </a:prstGeom>
          <a:solidFill>
            <a:srgbClr val="2A0E0E"/>
          </a:solidFill>
          <a:ln/>
        </p:spPr>
      </p:sp>
      <p:sp>
        <p:nvSpPr>
          <p:cNvPr id="33" name="Text 30"/>
          <p:cNvSpPr/>
          <p:nvPr/>
        </p:nvSpPr>
        <p:spPr>
          <a:xfrm>
            <a:off x="5166360" y="420624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2C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СОВЕТ: </a:t>
            </a:r>
            <a:pPr indent="0" marL="0">
              <a:buNone/>
            </a:pPr>
            <a:r>
              <a:rPr lang="en-US" sz="1000" dirty="0">
                <a:solidFill>
                  <a:srgbClr val="FB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накрывайте крышкой при нагреве — аромат раскроется полнее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457200" y="4864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B89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Пошаговый рецепт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7315200" y="48646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400" kern="0" dirty="0">
                <a:solidFill>
                  <a:srgbClr val="B89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09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0" kern="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СЕКРЕТЫ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589520" y="292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400" kern="0" dirty="0">
                <a:solidFill>
                  <a:srgbClr val="8B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09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A0E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Что делает глинтвейн лучшим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548640" cy="36576"/>
          </a:xfrm>
          <a:prstGeom prst="rect">
            <a:avLst/>
          </a:prstGeom>
          <a:solidFill>
            <a:srgbClr val="D2691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5544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8B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ПЯТЬ ПРАВИЛ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42062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A0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сухое красное вино хорошего качества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A0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кипятить — только подогреть до 70–80 °C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A0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Свежая цедра, а не магазинный порошок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A0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Дать настояться 20–30 минут под крышкой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A0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Подавать сразу, пока горячий</a:t>
            </a:r>
            <a:endParaRPr lang="en-US" sz="13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937760" y="1554480"/>
            <a:ext cx="3840480" cy="15544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937760" y="3200400"/>
            <a:ext cx="1188720" cy="960120"/>
          </a:xfrm>
          <a:prstGeom prst="rect">
            <a:avLst/>
          </a:prstGeom>
          <a:solidFill>
            <a:srgbClr val="2A0E0E"/>
          </a:solidFill>
          <a:ln/>
        </p:spPr>
      </p:sp>
      <p:sp>
        <p:nvSpPr>
          <p:cNvPr id="10" name="Text 7"/>
          <p:cNvSpPr/>
          <p:nvPr/>
        </p:nvSpPr>
        <p:spPr>
          <a:xfrm>
            <a:off x="4937760" y="32461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C5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70–80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4937760" y="370332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2C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°C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983480" y="38862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B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температура подачи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6190488" y="3200400"/>
            <a:ext cx="1188720" cy="960120"/>
          </a:xfrm>
          <a:prstGeom prst="rect">
            <a:avLst/>
          </a:prstGeom>
          <a:solidFill>
            <a:srgbClr val="2A0E0E"/>
          </a:solidFill>
          <a:ln/>
        </p:spPr>
      </p:sp>
      <p:sp>
        <p:nvSpPr>
          <p:cNvPr id="14" name="Text 11"/>
          <p:cNvSpPr/>
          <p:nvPr/>
        </p:nvSpPr>
        <p:spPr>
          <a:xfrm>
            <a:off x="6190488" y="32461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C5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5–7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6190488" y="370332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2C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шт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236208" y="38862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B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бутонов гвоздики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7443216" y="3200400"/>
            <a:ext cx="1188720" cy="960120"/>
          </a:xfrm>
          <a:prstGeom prst="rect">
            <a:avLst/>
          </a:prstGeom>
          <a:solidFill>
            <a:srgbClr val="2A0E0E"/>
          </a:solidFill>
          <a:ln/>
        </p:spPr>
      </p:sp>
      <p:sp>
        <p:nvSpPr>
          <p:cNvPr id="18" name="Text 15"/>
          <p:cNvSpPr/>
          <p:nvPr/>
        </p:nvSpPr>
        <p:spPr>
          <a:xfrm>
            <a:off x="7443216" y="32461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C5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20–30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7443216" y="370332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2C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488936" y="38862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B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время настаивания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457200" y="4864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B89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Секреты лучшего глинтвейна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7315200" y="48646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400" kern="0" dirty="0">
                <a:solidFill>
                  <a:srgbClr val="B89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09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0" kern="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ВАРИАЦИИ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589520" y="292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400" kern="0" dirty="0">
                <a:solidFill>
                  <a:srgbClr val="8B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09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0E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Классика, белый, безалкогольный и ягодный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548640" cy="36576"/>
          </a:xfrm>
          <a:prstGeom prst="rect">
            <a:avLst/>
          </a:prstGeom>
          <a:solidFill>
            <a:srgbClr val="D2691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554480"/>
            <a:ext cx="8229600" cy="11887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7889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B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Красный классический и янтарный безалкогольный — на одном столе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3154680"/>
            <a:ext cx="196596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C9A06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3154680"/>
            <a:ext cx="1965960" cy="109728"/>
          </a:xfrm>
          <a:prstGeom prst="rect">
            <a:avLst/>
          </a:prstGeom>
          <a:solidFill>
            <a:srgbClr val="5A1A1A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33375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0E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Классический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94360" y="384048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2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Красное сухое вино + специи + цитрус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542032" y="3154680"/>
            <a:ext cx="196596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C9A06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542032" y="3154680"/>
            <a:ext cx="1965960" cy="109728"/>
          </a:xfrm>
          <a:prstGeom prst="rect">
            <a:avLst/>
          </a:prstGeom>
          <a:solidFill>
            <a:srgbClr val="F2C57C"/>
          </a:solidFill>
          <a:ln/>
        </p:spPr>
      </p:sp>
      <p:sp>
        <p:nvSpPr>
          <p:cNvPr id="14" name="Text 11"/>
          <p:cNvSpPr/>
          <p:nvPr/>
        </p:nvSpPr>
        <p:spPr>
          <a:xfrm>
            <a:off x="2679192" y="33375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0E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Белый глинтвейн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2679192" y="384048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2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Белое сухое вино, яблоко, имбирь, мускат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626864" y="3154680"/>
            <a:ext cx="196596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C9A06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626864" y="3154680"/>
            <a:ext cx="1965960" cy="109728"/>
          </a:xfrm>
          <a:prstGeom prst="rect">
            <a:avLst/>
          </a:prstGeom>
          <a:solidFill>
            <a:srgbClr val="D2691E"/>
          </a:solidFill>
          <a:ln/>
        </p:spPr>
      </p:sp>
      <p:sp>
        <p:nvSpPr>
          <p:cNvPr id="18" name="Text 15"/>
          <p:cNvSpPr/>
          <p:nvPr/>
        </p:nvSpPr>
        <p:spPr>
          <a:xfrm>
            <a:off x="4764024" y="33375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0E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Безалкогольный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764024" y="384048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2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Виноградный или яблочный сок + специи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711696" y="3154680"/>
            <a:ext cx="196596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C9A06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711696" y="3154680"/>
            <a:ext cx="1965960" cy="109728"/>
          </a:xfrm>
          <a:prstGeom prst="rect">
            <a:avLst/>
          </a:prstGeom>
          <a:solidFill>
            <a:srgbClr val="8B5A3C"/>
          </a:solidFill>
          <a:ln/>
        </p:spPr>
      </p:sp>
      <p:sp>
        <p:nvSpPr>
          <p:cNvPr id="22" name="Text 19"/>
          <p:cNvSpPr/>
          <p:nvPr/>
        </p:nvSpPr>
        <p:spPr>
          <a:xfrm>
            <a:off x="6848856" y="33375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0E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Ягодный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848856" y="384048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2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Клюква, брусника или облепиха для русской зимы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57200" y="4864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B89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Вариации и безалкогольная версия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7315200" y="48646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400" kern="0" dirty="0">
                <a:solidFill>
                  <a:srgbClr val="B89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09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A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A0E0E">
              <a:alpha val="7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3840480" y="640080"/>
            <a:ext cx="4846320" cy="3840480"/>
          </a:xfrm>
          <a:prstGeom prst="rect">
            <a:avLst/>
          </a:prstGeom>
          <a:solidFill>
            <a:srgbClr val="2A0E0E">
              <a:alpha val="85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292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0" kern="0" dirty="0">
                <a:solidFill>
                  <a:srgbClr val="F2C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НАПОСЛЕДОК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589520" y="292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400" kern="0" dirty="0">
                <a:solidFill>
                  <a:srgbClr val="8B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09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069080" y="7772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BF5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Заварите, разлейте, согрейтесь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4069080" y="1691640"/>
            <a:ext cx="548640" cy="36576"/>
          </a:xfrm>
          <a:prstGeom prst="rect">
            <a:avLst/>
          </a:prstGeom>
          <a:solidFill>
            <a:srgbClr val="D2691E"/>
          </a:solidFill>
          <a:ln/>
        </p:spPr>
      </p:sp>
      <p:sp>
        <p:nvSpPr>
          <p:cNvPr id="9" name="Text 6"/>
          <p:cNvSpPr/>
          <p:nvPr/>
        </p:nvSpPr>
        <p:spPr>
          <a:xfrm>
            <a:off x="4069080" y="192024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FB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Глинтвейн — это 5 минут работы и 30 минут терпения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FB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Лучший глинтвейн — горячий, но не кипячёный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FB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Специи можно менять по вкусу, база неизменна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069080" y="4023360"/>
            <a:ext cx="457200" cy="27432"/>
          </a:xfrm>
          <a:prstGeom prst="rect">
            <a:avLst/>
          </a:prstGeom>
          <a:solidFill>
            <a:srgbClr val="F2C57C"/>
          </a:solidFill>
          <a:ln/>
        </p:spPr>
      </p:sp>
      <p:sp>
        <p:nvSpPr>
          <p:cNvPr id="11" name="Text 8"/>
          <p:cNvSpPr/>
          <p:nvPr/>
        </p:nvSpPr>
        <p:spPr>
          <a:xfrm>
            <a:off x="4069080" y="4114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2C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Приятного вечера и тёплой зимы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4572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2C5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Prost &amp; Skål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57200" y="4864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B89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Лучший глинтвейн · 2025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7315200" y="48646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400" kern="0" dirty="0">
                <a:solidFill>
                  <a:srgbClr val="B89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09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Лучший глинтвейн: история и рецепт</dc:title>
  <dc:subject>PptxGenJS Presentation</dc:subject>
  <dc:creator>Глинтвейн-презентация</dc:creator>
  <cp:lastModifiedBy>Глинтвейн-презентация</cp:lastModifiedBy>
  <cp:revision>1</cp:revision>
  <dcterms:created xsi:type="dcterms:W3CDTF">2026-06-13T12:48:03Z</dcterms:created>
  <dcterms:modified xsi:type="dcterms:W3CDTF">2026-06-13T12:48:03Z</dcterms:modified>
</cp:coreProperties>
</file>