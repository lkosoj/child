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005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1810">
              <a:alpha val="65000"/>
            </a:srgbClr>
          </a:solidFill>
          <a:ln w="12700">
            <a:solidFill>
              <a:srgbClr val="2A181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2926080"/>
            <a:ext cx="9144000" cy="2217420"/>
          </a:xfrm>
          <a:prstGeom prst="rect">
            <a:avLst/>
          </a:prstGeom>
          <a:solidFill>
            <a:srgbClr val="2A1810">
              <a:alpha val="75000"/>
            </a:srgbClr>
          </a:solidFill>
          <a:ln w="12700">
            <a:solidFill>
              <a:srgbClr val="2A181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315468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Легендарный рецепт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34290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Биф Веллингтон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75488" y="43159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Самая изысканная говядина в слоёном тесте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A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такое Биф Веллингтон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371600" cy="36576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Говяжья вырезка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Грибной дюксель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Пармская ветчина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Слоёное тесто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Сочетание дорогих ингредиентов, технического мастерства и драматичной подачи. Блюдо-вызов и блюдо-символ.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09160" y="1234440"/>
            <a:ext cx="3840480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9160" y="4160520"/>
            <a:ext cx="3840480" cy="310896"/>
          </a:xfrm>
          <a:prstGeom prst="rect">
            <a:avLst/>
          </a:prstGeom>
          <a:solidFill>
            <a:srgbClr val="EDE4D3"/>
          </a:solidFill>
          <a:ln w="6350">
            <a:solidFill>
              <a:srgbClr val="C9BB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00600" y="4178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Идеальный разрез: тесто · ветчина · дюксель · мясо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482803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Биф Веллингтон · Рецепт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772400" y="482803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СКВОЗЬ ВЕКА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A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История и происхождение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371600" cy="36576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" y="1280160"/>
            <a:ext cx="365760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0" y="1426464"/>
            <a:ext cx="128016" cy="128016"/>
          </a:xfrm>
          <a:prstGeom prst="ellipse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26864" y="1572768"/>
            <a:ext cx="18288" cy="457200"/>
          </a:xfrm>
          <a:prstGeom prst="rect">
            <a:avLst/>
          </a:prstGeom>
          <a:solidFill>
            <a:srgbClr val="C9BBA8"/>
          </a:solidFill>
          <a:ln w="12700">
            <a:solidFill>
              <a:srgbClr val="C9BB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46320" y="1371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2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XVI–XVII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0" y="1371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Английские пироги «коффины» — мясо в тесте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0" y="2029968"/>
            <a:ext cx="128016" cy="128016"/>
          </a:xfrm>
          <a:prstGeom prst="ellipse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2176272"/>
            <a:ext cx="18288" cy="457200"/>
          </a:xfrm>
          <a:prstGeom prst="rect">
            <a:avLst/>
          </a:prstGeom>
          <a:solidFill>
            <a:srgbClr val="C9BBA8"/>
          </a:solidFill>
          <a:ln w="12700">
            <a:solidFill>
              <a:srgbClr val="C9BB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9751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2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Франция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0" y="197510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Filet de bœuf en croûte — говядина в корочке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0" y="2633472"/>
            <a:ext cx="128016" cy="128016"/>
          </a:xfrm>
          <a:prstGeom prst="ellipse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26864" y="2779776"/>
            <a:ext cx="18288" cy="457200"/>
          </a:xfrm>
          <a:prstGeom prst="rect">
            <a:avLst/>
          </a:prstGeom>
          <a:solidFill>
            <a:srgbClr val="C9BBA8"/>
          </a:solidFill>
          <a:ln w="12700">
            <a:solidFill>
              <a:srgbClr val="C9BBA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2578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2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1899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43600" y="25786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Меню парохода SS Fürst Bismarck — первое упоминание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0" y="3236976"/>
            <a:ext cx="128016" cy="128016"/>
          </a:xfrm>
          <a:prstGeom prst="ellipse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26864" y="3383280"/>
            <a:ext cx="18288" cy="457200"/>
          </a:xfrm>
          <a:prstGeom prst="rect">
            <a:avLst/>
          </a:prstGeom>
          <a:solidFill>
            <a:srgbClr val="C9BBA8"/>
          </a:solidFill>
          <a:ln w="12700">
            <a:solidFill>
              <a:srgbClr val="C9BBA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0" y="31821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2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943600" y="31821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Джулия Чайлд популяризирует в США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0" y="3840480"/>
            <a:ext cx="128016" cy="128016"/>
          </a:xfrm>
          <a:prstGeom prst="ellipse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46320" y="37856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2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Сегодня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943600" y="378561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Гордон Рамзи и TikTok — современное возрождение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572000" y="45262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Британский ребрендинг в честь герцога Веллингтона — победителя Наполеона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57200" y="482803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Биф Веллингтон · Рецепт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7772400" y="482803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ФУНДАМЕНТ ВКУСА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A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Лучшие ингредиенты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371600" cy="36576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" y="1280160"/>
            <a:ext cx="365760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0" y="1325880"/>
            <a:ext cx="274320" cy="274320"/>
          </a:xfrm>
          <a:prstGeom prst="ellipse">
            <a:avLst/>
          </a:prstGeom>
          <a:solidFill>
            <a:srgbClr val="7A2E1E"/>
          </a:solidFill>
          <a:ln w="12700">
            <a:solidFill>
              <a:srgbClr val="7A2E1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983480" y="132588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Говяжья вырезка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83480" y="165506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Центральный разрез (шатобриан), ~1,1 кг, ровная форма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0" y="1984248"/>
            <a:ext cx="274320" cy="274320"/>
          </a:xfrm>
          <a:prstGeom prst="ellipse">
            <a:avLst/>
          </a:prstGeom>
          <a:solidFill>
            <a:srgbClr val="7A2E1E"/>
          </a:solidFill>
          <a:ln w="12700">
            <a:solidFill>
              <a:srgbClr val="7A2E1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0" y="1984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83480" y="198424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Шампиньоны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83480" y="231343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Кримини / портобелло для дюкселя — низкая влажность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0" y="2642616"/>
            <a:ext cx="274320" cy="274320"/>
          </a:xfrm>
          <a:prstGeom prst="ellipse">
            <a:avLst/>
          </a:prstGeom>
          <a:solidFill>
            <a:srgbClr val="7A2E1E"/>
          </a:solidFill>
          <a:ln w="12700">
            <a:solidFill>
              <a:srgbClr val="7A2E1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0" y="2642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983480" y="264261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Пармская ветчина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983480" y="297180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Прошутто — барьер от влаги между тестом и мясом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572000" y="3300984"/>
            <a:ext cx="274320" cy="274320"/>
          </a:xfrm>
          <a:prstGeom prst="ellipse">
            <a:avLst/>
          </a:prstGeom>
          <a:solidFill>
            <a:srgbClr val="7A2E1E"/>
          </a:solidFill>
          <a:ln w="12700">
            <a:solidFill>
              <a:srgbClr val="7A2E1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0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983480" y="330098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Слоёное тесто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983480" y="363016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Полностью сливочное (Dufour или домашнее rough puff)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0" y="3959352"/>
            <a:ext cx="274320" cy="274320"/>
          </a:xfrm>
          <a:prstGeom prst="ellipse">
            <a:avLst/>
          </a:prstGeom>
          <a:solidFill>
            <a:srgbClr val="7A2E1E"/>
          </a:solidFill>
          <a:ln w="12700">
            <a:solidFill>
              <a:srgbClr val="7A2E1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0" y="3959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983480" y="395935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Приправы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983480" y="428853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Дижонская горчица · тимьян · соль · перец · яйцо для смазки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57200" y="482803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Биф Веллингтон · Рецепт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7772400" y="482803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ДНЯ ДО СОВЕРШЕНСТВА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A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План и подготовка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371600" cy="36576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5780" y="1325880"/>
            <a:ext cx="2514600" cy="2743200"/>
          </a:xfrm>
          <a:prstGeom prst="rect">
            <a:avLst/>
          </a:prstGeom>
          <a:solidFill>
            <a:srgbClr val="EDE4D3"/>
          </a:solidFill>
          <a:ln w="6350">
            <a:solidFill>
              <a:srgbClr val="C9BB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5780" y="1325880"/>
            <a:ext cx="2514600" cy="73152"/>
          </a:xfrm>
          <a:prstGeom prst="rect">
            <a:avLst/>
          </a:prstGeom>
          <a:solidFill>
            <a:srgbClr val="C9BBA8"/>
          </a:solidFill>
          <a:ln w="12700">
            <a:solidFill>
              <a:srgbClr val="C9BB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8660" y="14813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День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08660" y="178308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2–3 дня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54380" y="2057400"/>
            <a:ext cx="2057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Зачистить вырезку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Обернуть плёнкой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Охладить на ночь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4700" y="1325880"/>
            <a:ext cx="2514600" cy="2743200"/>
          </a:xfrm>
          <a:prstGeom prst="rect">
            <a:avLst/>
          </a:prstGeom>
          <a:solidFill>
            <a:srgbClr val="EDE4D3"/>
          </a:solidFill>
          <a:ln w="6350">
            <a:solidFill>
              <a:srgbClr val="C9BB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4700" y="1325880"/>
            <a:ext cx="2514600" cy="73152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7580" y="14813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День 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97580" y="178308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1 день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43300" y="2057400"/>
            <a:ext cx="2057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Приготовить дюксель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Обжарить говядину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 цилиндр: прошутто + дюксель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03620" y="1325880"/>
            <a:ext cx="2514600" cy="2743200"/>
          </a:xfrm>
          <a:prstGeom prst="rect">
            <a:avLst/>
          </a:prstGeom>
          <a:solidFill>
            <a:srgbClr val="EDE4D3"/>
          </a:solidFill>
          <a:ln w="6350">
            <a:solidFill>
              <a:srgbClr val="C9BB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03620" y="1325880"/>
            <a:ext cx="2514600" cy="73152"/>
          </a:xfrm>
          <a:prstGeom prst="rect">
            <a:avLst/>
          </a:prstGeom>
          <a:solidFill>
            <a:srgbClr val="7A2E1E"/>
          </a:solidFill>
          <a:ln w="12700">
            <a:solidFill>
              <a:srgbClr val="7A2E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6500" y="14813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День 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86500" y="178308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Подача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32220" y="2057400"/>
            <a:ext cx="2057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Завернуть в тесто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Охладить 15+ мин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Выпекать при 220°C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Отдых 10 мин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24528"/>
            <a:ext cx="8229600" cy="411480"/>
          </a:xfrm>
          <a:prstGeom prst="rect">
            <a:avLst/>
          </a:prstGeom>
          <a:solidFill>
            <a:srgbClr val="2A1810"/>
          </a:solidFill>
          <a:ln w="12700">
            <a:solidFill>
              <a:srgbClr val="2A181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22452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температура: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medium-rare 54°C после отдыха  </a:t>
            </a:r>
            <a:r>
              <a:rPr lang="en-US" sz="1100" i="1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Термометр с мгновенным считыванием обязателен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Биф Веллингтон · Рецепт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772400" y="482803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A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Шаг 1–2. Дюксель и обжарка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371600" cy="36576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Дюксель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Грибы + лук + чеснок измельчить. Жарить 10–45 мин до полного испарения влаги (грибы на 80–90% вода). Остудить.</a:t>
            </a:r>
            <a:endParaRPr lang="en-US" sz="1150" dirty="0"/>
          </a:p>
          <a:p>
            <a:pPr marL="0" indent="0">
              <a:buNone/>
            </a:pPr>
            <a:r>
              <a:rPr lang="en-US" sz="1300" b="1" dirty="0">
                <a:solidFill>
                  <a:srgbClr val="7A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Обжарка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Вырезку комнатной температуры, щедро соль + перец. Раскалённая чугунная сковорода с маслом до дымка, ~2 мин с каждой стороны до глубокой корочки.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Снять, смазать дижонской горчицей.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3767328"/>
            <a:ext cx="3749040" cy="713232"/>
          </a:xfrm>
          <a:prstGeom prst="rect">
            <a:avLst/>
          </a:prstGeom>
          <a:solidFill>
            <a:srgbClr val="EDE4D3"/>
          </a:solidFill>
          <a:ln w="19050">
            <a:solidFill>
              <a:srgbClr val="7A2E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8404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КРИТИЧНО: </a:t>
            </a:r>
            <a:r>
              <a:rPr lang="en-US" sz="105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Полностью остудить и охладить 2–3 часа перед обёртыванием — иначе тесто расплавится.</a:t>
            </a: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09160" y="1280160"/>
            <a:ext cx="3840480" cy="3200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482803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Биф Веллингтон · Рецепт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772400" y="482803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A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Шаг 3–4. Сборка и тесто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371600" cy="36576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" y="1280160"/>
            <a:ext cx="3657600" cy="3108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26280" y="128016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Сборка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плёнке разложить ломтики прошутто внахлёст 30×40 см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Равномерно тонкий слой дюкселя + тимьян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Говядину в центр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Плотно завернуть в цилиндр через плёнку, закрутить концы, охладить 30 мин+</a:t>
            </a:r>
            <a:endParaRPr lang="en-US" sz="1100" dirty="0"/>
          </a:p>
          <a:p>
            <a:pPr marL="0" indent="0">
              <a:buNone/>
            </a:pPr>
            <a:r>
              <a:rPr lang="en-US" sz="1300" b="1" dirty="0">
                <a:solidFill>
                  <a:srgbClr val="7A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Раскатать до 6 мм, выложить цилиндр, плотно завернуть, защипнуть швы, загнуть концы. Охладить 15+ мин.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82803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Биф Веллингтон · Рецепт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7772400" y="482803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A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Шаг 5–6. Выпекание и отдых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371600" cy="36576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0" b="1" dirty="0">
                <a:solidFill>
                  <a:srgbClr val="7A2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220°C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21792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Температура духовки, решётка в нижней трети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109728" cy="274320"/>
          </a:xfrm>
          <a:prstGeom prst="rect">
            <a:avLst/>
          </a:prstGeom>
          <a:solidFill>
            <a:srgbClr val="7A2E1E"/>
          </a:solidFill>
          <a:ln w="12700">
            <a:solidFill>
              <a:srgbClr val="7A2E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97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52°C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044952"/>
            <a:ext cx="109728" cy="274320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44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Medium-rare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3044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54°C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392424"/>
            <a:ext cx="109728" cy="274320"/>
          </a:xfrm>
          <a:prstGeom prst="rect">
            <a:avLst/>
          </a:prstGeom>
          <a:solidFill>
            <a:srgbClr val="C9BBA8"/>
          </a:solidFill>
          <a:ln w="12700">
            <a:solidFill>
              <a:srgbClr val="C9BB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3924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33924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60°C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Извлечь на ~5°C ниже из-за carryover-эффекта. Термометр через тесто сбоку в центр. ~20–25 мин для medium-rare.</a:t>
            </a:r>
            <a:endParaRPr lang="en-US" sz="10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1280160"/>
            <a:ext cx="3840480" cy="237744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4754880" y="3794760"/>
            <a:ext cx="3840480" cy="658368"/>
          </a:xfrm>
          <a:prstGeom prst="rect">
            <a:avLst/>
          </a:prstGeom>
          <a:solidFill>
            <a:srgbClr val="EDE4D3"/>
          </a:solidFill>
          <a:ln w="19050">
            <a:solidFill>
              <a:srgbClr val="B886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92040" y="385876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Отдых 10 мин. </a:t>
            </a:r>
            <a:r>
              <a:rPr lang="en-US" sz="105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накрывать — тесто размокнет.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7200" y="482803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Биф Веллингтон · Рецепт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7772400" y="482803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СОВЕТЫ МАСТЕРА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A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Секреты и подача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371600" cy="36576"/>
          </a:xfrm>
          <a:prstGeom prst="rect">
            <a:avLst/>
          </a:prstGeom>
          <a:solidFill>
            <a:srgbClr val="B8862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Предотвращение размокания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Полностью выпарить дюксель, охладить говядину, прошутто как барьер. Опционально фило-слой между тестом и дюкселем. Выпекать на решётке над противнем.</a:t>
            </a:r>
            <a:endParaRPr lang="en-US" sz="1050" dirty="0"/>
          </a:p>
          <a:p>
            <a:pPr marL="0" indent="0">
              <a:buNone/>
            </a:pPr>
            <a:r>
              <a:rPr lang="en-US" sz="1200" b="1" dirty="0">
                <a:solidFill>
                  <a:srgbClr val="7A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Подача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Острым зубчатым ножом ломтиками ~2,5 см. Протирать лезвие между разрезами (как Гордон Рамзи).</a:t>
            </a:r>
            <a:endParaRPr lang="en-US" sz="1050" dirty="0"/>
          </a:p>
          <a:p>
            <a:pPr marL="0" indent="0">
              <a:buNone/>
            </a:pPr>
            <a:r>
              <a:rPr lang="en-US" sz="1200" b="1" dirty="0">
                <a:solidFill>
                  <a:srgbClr val="7A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Гарниры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Картофель дофинуаз · шпинат в сливках · обжаренные грибы · бурбоновая морковь · стручковая фасоль</a:t>
            </a:r>
            <a:endParaRPr lang="en-US" sz="1050" dirty="0"/>
          </a:p>
          <a:p>
            <a:pPr marL="0" indent="0">
              <a:buNone/>
            </a:pPr>
            <a:r>
              <a:rPr lang="en-US" sz="1200" b="1" dirty="0">
                <a:solidFill>
                  <a:srgbClr val="7A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Собранный сырой — до 24 ч, заморозка — до 1 мес. НЕ разогревать в микроволновке.</a:t>
            </a: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92040" y="1280160"/>
            <a:ext cx="3749040" cy="3108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2803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Биф Веллингтон · Рецепт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7772400" y="482803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1810">
              <a:alpha val="60000"/>
            </a:srgbClr>
          </a:solidFill>
          <a:ln w="12700">
            <a:solidFill>
              <a:srgbClr val="2A181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123444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«Биф Веллингтон должен быть абсолютной индульгенцией — это одно из моих самых любимых основных блюд, и оно определённо было бы в моём последнем меню».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49808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Гордон Рамзи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2A1810">
              <a:alpha val="80000"/>
            </a:srgbClr>
          </a:solidFill>
          <a:ln w="12700">
            <a:solidFill>
              <a:srgbClr val="2A181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3794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Совершенное блюдо для особого случая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43159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Кульминация вековых традиций: точность, терпение, качественные ингредиенты. Готовьте с удовольствием.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631</Words>
  <Application>Microsoft Macintosh PowerPoint</Application>
  <PresentationFormat>Экран (16:9)</PresentationFormat>
  <Paragraphs>129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Биф Веллингтон — Рецепт</dc:title>
  <dc:subject>Биф Веллингтон</dc:subject>
  <dc:creator>Рецепт</dc:creator>
  <cp:lastModifiedBy>m13259</cp:lastModifiedBy>
  <cp:revision>1</cp:revision>
  <dcterms:created xsi:type="dcterms:W3CDTF">2026-07-03T14:27:20Z</dcterms:created>
  <dcterms:modified xsi:type="dcterms:W3CDTF">2026-07-03T15:14:14Z</dcterms:modified>
</cp:coreProperties>
</file>