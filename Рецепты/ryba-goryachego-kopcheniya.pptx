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828800"/>
            <a:ext cx="9144000" cy="3314700"/>
          </a:xfrm>
          <a:prstGeom prst="rect">
            <a:avLst/>
          </a:prstGeom>
          <a:solidFill>
            <a:srgbClr val="3D2817">
              <a:alpha val="75000"/>
            </a:srgbClr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20574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КУЛИНАРНЫЙ РЕЦЕПТ · ПОШАГОВОЕ РУКОВОДСТВО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57200" y="24231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Рыба горячего копчения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75488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Рецепт самой вкусной — от выбора рыбы до подачи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3886200"/>
            <a:ext cx="2011680" cy="54864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069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основе исследования 50+ источников по домашнему копчению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ВЫБОР СЫРЬЯ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Лучшие виды рыб для горячего копчения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главных критерия: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Жирные сорта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 пропитывает мясо — рыба остаётся сочной, приобретает насыщенный вкус и красивый золотистый цвет.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Плотная чешуя и кожа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Защищают мясо от пересушивания и растрескивания при высокой температуре копчения.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Свежесть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Светлые жабры, прозрачные глаза, упругое мясо — обязательные признаки качества.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17136" y="1271016"/>
            <a:ext cx="4133088" cy="2487168"/>
          </a:xfrm>
          <a:prstGeom prst="roundRect">
            <a:avLst>
              <a:gd name="adj" fmla="val 2941"/>
            </a:avLst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1325880"/>
            <a:ext cx="402336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0" y="3840480"/>
            <a:ext cx="4023360" cy="640080"/>
          </a:xfrm>
          <a:prstGeom prst="rect">
            <a:avLst/>
          </a:prstGeom>
          <a:solidFill>
            <a:srgbClr val="3D2817"/>
          </a:solidFill>
          <a:ln w="6350">
            <a:solidFill>
              <a:srgbClr val="3D28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09160" y="388620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Топ-7 сортов:  </a:t>
            </a:r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скумбрия · лосось · сельдь · форель · судак · окунь · лещ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 рыбы: разделка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411480" cy="41148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3075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Потрошение через брюшко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Удалите жабры и внутренности, не повредив жёлчный пузырь.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0848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Кожа и чешуя остаются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2313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снимайте — они защищают мясо и задерживают жир.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411480" cy="41148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2862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Промывка от слизи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090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Тщательно промойте рыбу холодной водой изнутри и снаружи.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6393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Распорки для крупной рыбы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38679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Брюшко раскройте деревянными палочками для равномерного копчения.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91456" y="1316736"/>
            <a:ext cx="3767328" cy="3127248"/>
          </a:xfrm>
          <a:prstGeom prst="roundRect">
            <a:avLst>
              <a:gd name="adj" fmla="val 2339"/>
            </a:avLst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371600"/>
            <a:ext cx="3657600" cy="30175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2 · ВЫБОР МЕТОДА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Посол: три способа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2514600" cy="54864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90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Сухой посол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103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 втирается в рыбу снаружи и внутри. Подходит для быстрого посола некрупной рыбы.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325880"/>
            <a:ext cx="2514600" cy="2468880"/>
          </a:xfrm>
          <a:prstGeom prst="rect">
            <a:avLst/>
          </a:prstGeom>
          <a:solidFill>
            <a:srgbClr val="3D2817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25880"/>
            <a:ext cx="2514600" cy="54864"/>
          </a:xfrm>
          <a:prstGeom prst="rect">
            <a:avLst/>
          </a:prstGeom>
          <a:solidFill>
            <a:srgbClr val="E8C572"/>
          </a:solidFill>
          <a:ln w="6350">
            <a:solidFill>
              <a:srgbClr val="E8C5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90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Оптимально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Мокрый (тузлучный)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2103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Рыбу выдерживают в рассоле 1 кг соли на 5 л воды при температуре ≤15 °C. Проверка яйцом: всплывает — крепость достаточна. Оптимальный метод.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514600" cy="2468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325880"/>
            <a:ext cx="2514600" cy="54864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4904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Универсально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Смешанный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72200" y="2103120"/>
            <a:ext cx="2240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Комбинация сухой натирки и тузлука. Глубокий и равномерный просол для крупной жирной рыбы.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8183880" cy="54864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 соли:  </a:t>
            </a:r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1,5–3% от массы рыбы  ·  </a:t>
            </a:r>
            <a:pPr indent="0" marL="0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Тузлук: </a:t>
            </a:r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кг соли на 5 л воды  ·  Температура ≤ 15 °C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Сушка: образование пелликулы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25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нужна сушка?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поверхности рыбы образуется тонкая защитная плёнка — пелликула. Она задерживает аромат дыма внутри, предотвращает пересыхание и придаёт золотистый цвет.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4B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651760"/>
            <a:ext cx="1097280" cy="457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18–28 °C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нежирная рыба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55648" y="265176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4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55648" y="2651760"/>
            <a:ext cx="1097280" cy="457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7088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≤ 23 °C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47088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жирная рыба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62656" y="2651760"/>
            <a:ext cx="10972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4C4B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62656" y="2651760"/>
            <a:ext cx="1097280" cy="457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54096" y="27889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79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45–60 мин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54096" y="31272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30 °C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Готовность: поверхность рыбы становится матовой, сухой на ощупь, без липкости.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0016" y="1271016"/>
            <a:ext cx="3950208" cy="3172968"/>
          </a:xfrm>
          <a:prstGeom prst="roundRect">
            <a:avLst>
              <a:gd name="adj" fmla="val 2305"/>
            </a:avLst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325880"/>
            <a:ext cx="3840480" cy="30632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4 · АРОМАТ И ЦВЕТ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Выбор древесины и щепы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2697480" cy="1417320"/>
          </a:xfrm>
          <a:prstGeom prst="rect">
            <a:avLst/>
          </a:prstGeom>
          <a:solidFill>
            <a:srgbClr val="3D2817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54864" cy="1417320"/>
          </a:xfrm>
          <a:prstGeom prst="rect">
            <a:avLst/>
          </a:prstGeom>
          <a:solidFill>
            <a:srgbClr val="E8C572"/>
          </a:solidFill>
          <a:ln w="6350">
            <a:solidFill>
              <a:srgbClr val="E8C5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Ольха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Классика копчения. Даёт мягкий аромат и красивый золотистый цвет. Универсальна для любой рыбы.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258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325880"/>
            <a:ext cx="54864" cy="14173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0168" y="14630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Бук / Дуб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30168" y="17830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Яркий насыщенный вкус. Идеальны для жирной рыбы — лосося, скумбрии, сельди.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26080"/>
            <a:ext cx="54864" cy="14173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Яблоня / Груша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9808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Мягкий фруктовый аромат. Деликатный вкус для белой рыбы и форели.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29000" y="292608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B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29000" y="2926080"/>
            <a:ext cx="54864" cy="14173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30168" y="3063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Вишня / Слива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630168" y="33832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Насыщенный цвет и сладковатый аромат. Сочетается с ольхой в пропорции 1:1.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453128"/>
            <a:ext cx="8183880" cy="320040"/>
          </a:xfrm>
          <a:prstGeom prst="rect">
            <a:avLst/>
          </a:prstGeom>
          <a:solidFill>
            <a:srgbClr val="F0DDD0"/>
          </a:solidFill>
          <a:ln w="6350">
            <a:solidFill>
              <a:srgbClr val="9B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89704"/>
            <a:ext cx="7863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Хвойные породы — ЗАПРЕЩЕНЫ:  </a:t>
            </a:r>
            <a:pPr indent="0" marL="0">
              <a:buNone/>
            </a:pPr>
            <a:r>
              <a:rPr lang="en-US" sz="1000" dirty="0">
                <a:solidFill>
                  <a:srgbClr val="9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выделяют смолы и горечь.   </a:t>
            </a:r>
            <a:pPr indent="0" marL="0">
              <a:buNone/>
            </a:pPr>
            <a:r>
              <a:rPr lang="en-US" sz="1000" b="1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+5% можжевельника</a:t>
            </a:r>
            <a:pPr indent="0" marL="0">
              <a:buNone/>
            </a:pPr>
            <a:r>
              <a:rPr lang="en-US" sz="1000" dirty="0">
                <a:solidFill>
                  <a:srgbClr val="9B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 щепе для пряного привкуса.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3D2817">
              <a:alpha val="75000"/>
            </a:srgbClr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32004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КОПЧЕНИЕ · КЛЮЧЕВОЙ ЭТАП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Три стадии копчения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371600"/>
            <a:ext cx="2514600" cy="2286000"/>
          </a:xfrm>
          <a:prstGeom prst="rect">
            <a:avLst/>
          </a:prstGeom>
          <a:solidFill>
            <a:srgbClr val="3D2817">
              <a:alpha val="85000"/>
            </a:srgbClr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31620" y="1554480"/>
            <a:ext cx="548640" cy="54864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5316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Подсушка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70–80 °C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2807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30–40 мин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858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Досушивание поверхности, закрепление пелликулы. Дым начинает оседать на рыбе.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91840" y="1371600"/>
            <a:ext cx="2514600" cy="2286000"/>
          </a:xfrm>
          <a:prstGeom prst="rect">
            <a:avLst/>
          </a:prstGeom>
          <a:solidFill>
            <a:srgbClr val="3D2817">
              <a:alpha val="85000"/>
            </a:srgbClr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74820" y="1554480"/>
            <a:ext cx="548640" cy="54864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748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7" name="Text 14"/>
          <p:cNvSpPr/>
          <p:nvPr/>
        </p:nvSpPr>
        <p:spPr>
          <a:xfrm>
            <a:off x="32918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Пропекание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91840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100–140 °C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291840" y="2807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мин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4290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Мясо пропекается изнутри. Рыба становится мягкой, кость отделяется легко.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035040" y="1371600"/>
            <a:ext cx="2514600" cy="2286000"/>
          </a:xfrm>
          <a:prstGeom prst="rect">
            <a:avLst/>
          </a:prstGeom>
          <a:solidFill>
            <a:srgbClr val="3D2817">
              <a:alpha val="85000"/>
            </a:srgbClr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018020" y="1554480"/>
            <a:ext cx="548640" cy="548640"/>
          </a:xfrm>
          <a:prstGeom prst="ellipse">
            <a:avLst/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01802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035040" y="21945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Копчение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35040" y="251460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100–120 °C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035040" y="28072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мин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172200" y="30632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D8C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Насыщение дымом, золотистый цвет и аромат. Рыба готова.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548640" y="3840480"/>
            <a:ext cx="8183880" cy="502920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85800" y="388620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Готовность:  </a:t>
            </a:r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температура мяса  </a:t>
            </a:r>
            <a:pPr indent="0" marL="0">
              <a:buNone/>
            </a:pPr>
            <a:r>
              <a:rPr lang="en-US" sz="11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 °C минимум 30 минут</a:t>
            </a:r>
            <a:pPr indent="0" marL="0">
              <a:buNone/>
            </a:pPr>
            <a:r>
              <a:rPr lang="en-US" sz="11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безопасное копчение по санитарным нормам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ПРАКТИКУМ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Пошаговый рецепт: скумбрия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533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Потрошение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6093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Удалить жабры, внутренности. Промыть.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185623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Посол в тузлуке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1122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минут в рассоле (1:5).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23591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Промывка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51560" y="2615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Смыть лишнюю соль холодной водой.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8036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80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862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Сушка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31181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мин: +20 °C → +45 °C.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38328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3364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Копчение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621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+75 °C до внутренней +55 °C (~50 мин).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3D2817"/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51560" y="386791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Охлаждение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51560" y="412394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часов «отдыха» перед подачей.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65776" y="1316736"/>
            <a:ext cx="3584448" cy="3127248"/>
          </a:xfrm>
          <a:prstGeom prst="roundRect">
            <a:avLst>
              <a:gd name="adj" fmla="val 2339"/>
            </a:avLst>
          </a:prstGeom>
          <a:solidFill>
            <a:srgbClr val="C8791A"/>
          </a:solidFill>
          <a:ln w="12700">
            <a:solidFill>
              <a:srgbClr val="C8791A"/>
            </a:solidFill>
            <a:prstDash val="solid"/>
          </a:ln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1371600"/>
            <a:ext cx="3474720" cy="30175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87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МАСТЕРОВ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3D28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 частые ошибки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25880"/>
            <a:ext cx="3794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4B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25880"/>
            <a:ext cx="3794760" cy="457200"/>
          </a:xfrm>
          <a:prstGeom prst="rect">
            <a:avLst/>
          </a:prstGeom>
          <a:solidFill>
            <a:srgbClr val="5C7A4B"/>
          </a:solidFill>
          <a:ln w="6350">
            <a:solidFill>
              <a:srgbClr val="5C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25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ДЕЛАЙТЕ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Солите 1,5–2% от массы — не пересаливайте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Подставьте жёлоб под рыбу для стока жира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Размещайте рыбу вертикально на крючках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Обвязывайте крупную рыбу шпагатом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Дайте рыбе «отдохнуть» 12 часов после копчения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3794760" cy="32461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4B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3794760" cy="457200"/>
          </a:xfrm>
          <a:prstGeom prst="rect">
            <a:avLst/>
          </a:prstGeom>
          <a:solidFill>
            <a:srgbClr val="9B4444"/>
          </a:solidFill>
          <a:ln w="6350">
            <a:solidFill>
              <a:srgbClr val="9B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32588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ИЗБЕГАЙТЕ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920240"/>
            <a:ext cx="3429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Избыток соли более 2% — пересол убивает вкус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Капли жира на щепу — горький привкус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Густой дым от лишней щепы — копоть на рыбе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Плохая подсушка — рыба варится, а не коптится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A1F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Пересушивание при слишком долгом копчении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A7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8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2817">
              <a:alpha val="70000"/>
            </a:srgbClr>
          </a:solidFill>
          <a:ln w="12700">
            <a:solidFill>
              <a:srgbClr val="3D2817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5029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8C5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ПОДАЧА И ХРАНЕНИЕ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EFE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Финал: подача и хранение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371600" cy="36576"/>
          </a:xfrm>
          <a:prstGeom prst="rect">
            <a:avLst/>
          </a:prstGeom>
          <a:solidFill>
            <a:srgbClr val="C8791A"/>
          </a:solidFill>
          <a:ln w="6350">
            <a:solidFill>
              <a:srgbClr val="C8791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737360"/>
            <a:ext cx="3794760" cy="1920240"/>
          </a:xfrm>
          <a:prstGeom prst="rect">
            <a:avLst/>
          </a:prstGeom>
          <a:solidFill>
            <a:srgbClr val="3D2817">
              <a:alpha val="80000"/>
            </a:srgbClr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1737360"/>
            <a:ext cx="3794760" cy="45720"/>
          </a:xfrm>
          <a:prstGeom prst="rect">
            <a:avLst/>
          </a:prstGeom>
          <a:solidFill>
            <a:srgbClr val="E8C572"/>
          </a:solidFill>
          <a:ln w="6350">
            <a:solidFill>
              <a:srgbClr val="E8C5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874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Подача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22402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Лимон и свежая зелень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Ржаной хлеб и сливочное масло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Охладить рыбу перед нарезкой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Идеально к пиву или белому вину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800600" y="1737360"/>
            <a:ext cx="3794760" cy="1920240"/>
          </a:xfrm>
          <a:prstGeom prst="rect">
            <a:avLst/>
          </a:prstGeom>
          <a:solidFill>
            <a:srgbClr val="3D2817">
              <a:alpha val="80000"/>
            </a:srgbClr>
          </a:solidFill>
          <a:ln w="12700">
            <a:solidFill>
              <a:srgbClr val="C8791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00600" y="1737360"/>
            <a:ext cx="3794760" cy="45720"/>
          </a:xfrm>
          <a:prstGeom prst="rect">
            <a:avLst/>
          </a:prstGeom>
          <a:solidFill>
            <a:srgbClr val="E8C572"/>
          </a:solidFill>
          <a:ln w="6350">
            <a:solidFill>
              <a:srgbClr val="E8C57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83480" y="18745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Хранение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83480" y="2240280"/>
            <a:ext cx="3429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7 дней при +2 ... −2 °C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Охладить перед упаковкой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Вакуум или пергамент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Заморозка до 3 месяцев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C5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Приятного аппетита! Готовьте с дымком и удовольствием.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482803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Рыба горячего копчения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772400" y="48280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Рыба горячего копчения — рецепт самой вкусной</dc:title>
  <dc:subject>Рыба горячего копчения — рецепт</dc:subject>
  <dc:creator>OpenAI</dc:creator>
  <cp:lastModifiedBy>OpenAI</cp:lastModifiedBy>
  <cp:revision>1</cp:revision>
  <dcterms:created xsi:type="dcterms:W3CDTF">2026-07-03T17:47:08Z</dcterms:created>
  <dcterms:modified xsi:type="dcterms:W3CDTF">2026-07-03T17:47:08Z</dcterms:modified>
</cp:coreProperties>
</file>