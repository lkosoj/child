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1"/>
    <p:restoredTop sz="94610"/>
  </p:normalViewPr>
  <p:slideViewPr>
    <p:cSldViewPr snapToGrid="0" snapToObjects="1">
      <p:cViewPr varScale="1">
        <p:scale>
          <a:sx n="120" d="100"/>
          <a:sy n="120" d="100"/>
        </p:scale>
        <p:origin x="192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652453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>
            <a:alphaModFix amt="65000"/>
          </a:blip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1295C">
              <a:alpha val="40000"/>
            </a:srgbClr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731520" y="2194560"/>
            <a:ext cx="109728" cy="1463040"/>
          </a:xfrm>
          <a:prstGeom prst="rect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1005840" y="210312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2F2F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ШТОРМЫ НА МОРЕ</a:t>
            </a:r>
            <a:endParaRPr lang="en-US" sz="5400" dirty="0"/>
          </a:p>
        </p:txBody>
      </p:sp>
      <p:sp>
        <p:nvSpPr>
          <p:cNvPr id="6" name="Text 3"/>
          <p:cNvSpPr/>
          <p:nvPr/>
        </p:nvSpPr>
        <p:spPr>
          <a:xfrm>
            <a:off x="1005840" y="310896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i="1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Ярость океана, дыхание эволюции и скрытая польза стихии</a:t>
            </a:r>
            <a:endParaRPr lang="en-US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Что такое морской шторм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1097280" cy="54864"/>
          </a:xfrm>
          <a:prstGeom prst="rect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371600"/>
            <a:ext cx="576072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Шторм на море</a:t>
            </a: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это комплексное атмосферное явление, при котором скорость ветра над акваторией превышает 20 м/с (8 баллов по шкале Бофорта), а высота волн достигает 6 и более метров.
</a:t>
            </a: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Главные признаки:</a:t>
            </a:r>
            <a:endParaRPr lang="en-US" sz="16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устойчивый сильный ветер (&gt;20 м/с)
•  высокие волны (6–15+ м)
•  резкие перепады давления
•  обильные осадки и грозы
•  ухудшение видимости до &lt;1 км</a:t>
            </a:r>
            <a:endParaRPr lang="en-US" sz="16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0" y="1280160"/>
            <a:ext cx="5120640" cy="3840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583680" y="516636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Траулер идёт через штормовые волны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6583680" y="5623560"/>
            <a:ext cx="2468880" cy="777240"/>
          </a:xfrm>
          <a:prstGeom prst="roundRect">
            <a:avLst>
              <a:gd name="adj" fmla="val 9412"/>
            </a:avLst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583680" y="5623560"/>
            <a:ext cx="2468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
</a:t>
            </a:r>
            <a:r>
              <a:rPr lang="en-US" sz="1000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баллов — ураган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9235440" y="5623560"/>
            <a:ext cx="2468880" cy="777240"/>
          </a:xfrm>
          <a:prstGeom prst="roundRect">
            <a:avLst>
              <a:gd name="adj" fmla="val 9412"/>
            </a:avLst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235440" y="5623560"/>
            <a:ext cx="2468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 м/с
</a:t>
            </a:r>
            <a:r>
              <a:rPr lang="en-US" sz="1000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порог урагана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Штормы на море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9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Как рождается шторм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1097280" cy="54864"/>
          </a:xfrm>
          <a:prstGeom prst="rect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86588" y="1554480"/>
            <a:ext cx="2651760" cy="292608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500988" y="1783080"/>
            <a:ext cx="822960" cy="822960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500988" y="178308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2F2F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769468" y="274320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Прогрев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69468" y="3246120"/>
            <a:ext cx="22860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Тёплый воздух над океаном поднимается, образуя зону низкого давления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375508" y="1554480"/>
            <a:ext cx="2651760" cy="292608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289908" y="1783080"/>
            <a:ext cx="822960" cy="822960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289908" y="178308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2F2F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3558388" y="274320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Конденсация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558388" y="3246120"/>
            <a:ext cx="22860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Водяной пар конденсируется, выделяя энергию — до 10¹⁵ Дж в сутки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164428" y="1554480"/>
            <a:ext cx="2651760" cy="292608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078828" y="1783080"/>
            <a:ext cx="822960" cy="822960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078828" y="178308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2F2F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3200" dirty="0"/>
          </a:p>
        </p:txBody>
      </p:sp>
      <p:sp>
        <p:nvSpPr>
          <p:cNvPr id="17" name="Text 15"/>
          <p:cNvSpPr/>
          <p:nvPr/>
        </p:nvSpPr>
        <p:spPr>
          <a:xfrm>
            <a:off x="6347308" y="274320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Вихрь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347308" y="3246120"/>
            <a:ext cx="22860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Сила Кориолиса закручивает поток, формируя циклон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8953348" y="1554480"/>
            <a:ext cx="2651760" cy="292608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867748" y="1783080"/>
            <a:ext cx="822960" cy="822960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867748" y="178308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2F2F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3200" dirty="0"/>
          </a:p>
        </p:txBody>
      </p:sp>
      <p:sp>
        <p:nvSpPr>
          <p:cNvPr id="22" name="Text 20"/>
          <p:cNvSpPr/>
          <p:nvPr/>
        </p:nvSpPr>
        <p:spPr>
          <a:xfrm>
            <a:off x="9136228" y="274320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Шторм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9136228" y="3246120"/>
            <a:ext cx="22860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Скорость ветра растёт, волны усиливаются — стихия выходит на пик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57200" y="4937760"/>
            <a:ext cx="11247120" cy="1280160"/>
          </a:xfrm>
          <a:prstGeom prst="roundRect">
            <a:avLst>
              <a:gd name="adj" fmla="val 7143"/>
            </a:avLst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31520" y="5029200"/>
            <a:ext cx="10698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Топливо шторма — тёплая вода. </a:t>
            </a:r>
            <a:r>
              <a:rPr lang="en-US" sz="14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 температуре поверхности океана выше 26,5 °С вероятность тропического циклона возрастает в разы. Именно поэтому штормовый сезон приходится на конец лета и осень.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Штормы на море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9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Виды морских штормов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1097280" cy="54864"/>
          </a:xfrm>
          <a:prstGeom prst="rect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371600"/>
            <a:ext cx="274320" cy="914400"/>
          </a:xfrm>
          <a:prstGeom prst="roundRect">
            <a:avLst>
              <a:gd name="adj" fmla="val 16667"/>
            </a:avLst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3716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Тропический циклон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14400" y="1783080"/>
            <a:ext cx="57607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Ураган, тайфун, циклон — одно явление в разных океанах. Скорость ветра до 80 м/с.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2514600"/>
            <a:ext cx="274320" cy="914400"/>
          </a:xfrm>
          <a:prstGeom prst="roundRect">
            <a:avLst>
              <a:gd name="adj" fmla="val 16667"/>
            </a:avLst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25146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Внетропический циклон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14400" y="2926080"/>
            <a:ext cx="57607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Штормы умеренных широт. Самые частые и продолжительные, формируются на атмосферных фронтах.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3657600"/>
            <a:ext cx="274320" cy="914400"/>
          </a:xfrm>
          <a:prstGeom prst="roundRect">
            <a:avLst>
              <a:gd name="adj" fmla="val 16667"/>
            </a:avLst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36576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Торнадо над водой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914400" y="4069080"/>
            <a:ext cx="57607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Смерч, зарождающийся над морем. Короткий, но разрушительный — узкая воронка, огромная скорость.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4800600"/>
            <a:ext cx="274320" cy="914400"/>
          </a:xfrm>
          <a:prstGeom prst="roundRect">
            <a:avLst>
              <a:gd name="adj" fmla="val 16667"/>
            </a:avLst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400" y="48006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Шквал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914400" y="5212080"/>
            <a:ext cx="57607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Резкий кратковременный порыв до 25–30 м/с. Возникает при прохождении грозового фронта.</a:t>
            </a:r>
            <a:endParaRPr lang="en-US" sz="1200" dirty="0"/>
          </a:p>
        </p:txBody>
      </p:sp>
      <p:pic>
        <p:nvPicPr>
          <p:cNvPr id="1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0" y="1371600"/>
            <a:ext cx="4572000" cy="3383280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7132320" y="48006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Молнии над океаном — типичная картина грозового фронта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457200" y="594360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Мировом океане ежегодно формируется ~80–100 тропических циклонов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Штормы на море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9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>
            <a:alphaModFix amt="50000"/>
          </a:blip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1295C">
              <a:alpha val="70000"/>
            </a:srgbClr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3657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2F2F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Чем шторм опасен</a:t>
            </a:r>
            <a:endParaRPr lang="en-US" sz="3400" dirty="0"/>
          </a:p>
        </p:txBody>
      </p:sp>
      <p:sp>
        <p:nvSpPr>
          <p:cNvPr id="5" name="Shape 2"/>
          <p:cNvSpPr/>
          <p:nvPr/>
        </p:nvSpPr>
        <p:spPr>
          <a:xfrm>
            <a:off x="457200" y="1051560"/>
            <a:ext cx="1097280" cy="54864"/>
          </a:xfrm>
          <a:prstGeom prst="rect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57200" y="1463040"/>
            <a:ext cx="5394960" cy="2011680"/>
          </a:xfrm>
          <a:prstGeom prst="roundRect">
            <a:avLst>
              <a:gd name="adj" fmla="val 4545"/>
            </a:avLst>
          </a:prstGeom>
          <a:solidFill>
            <a:srgbClr val="F2F2F2">
              <a:alpha val="92000"/>
            </a:srgbClr>
          </a:solidFill>
          <a:ln w="12700">
            <a:solidFill>
              <a:srgbClr val="F2F2F2">
                <a:alpha val="4000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85800" y="1645920"/>
            <a:ext cx="1097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1828800" y="169164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Гибель людей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685800" y="2331720"/>
            <a:ext cx="49377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Каждый год в штормах на море погибает ~2 000 человек — моряки, рыбаки, прибрежные жители.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6126480" y="1463040"/>
            <a:ext cx="5394960" cy="2011680"/>
          </a:xfrm>
          <a:prstGeom prst="roundRect">
            <a:avLst>
              <a:gd name="adj" fmla="val 4545"/>
            </a:avLst>
          </a:prstGeom>
          <a:solidFill>
            <a:srgbClr val="F2F2F2">
              <a:alpha val="92000"/>
            </a:srgbClr>
          </a:solidFill>
          <a:ln w="12700">
            <a:solidFill>
              <a:srgbClr val="F2F2F2">
                <a:alpha val="4000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355080" y="1645920"/>
            <a:ext cx="1097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600" dirty="0"/>
          </a:p>
        </p:txBody>
      </p:sp>
      <p:sp>
        <p:nvSpPr>
          <p:cNvPr id="12" name="Text 9"/>
          <p:cNvSpPr/>
          <p:nvPr/>
        </p:nvSpPr>
        <p:spPr>
          <a:xfrm>
            <a:off x="7498080" y="169164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Разрушение инфраструктуры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6355080" y="2331720"/>
            <a:ext cx="49377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Волны ломают причалы, набережные, прибрежные здания. Убытки измеряются десятками миллиардов долларов.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457200" y="3749040"/>
            <a:ext cx="5394960" cy="2011680"/>
          </a:xfrm>
          <a:prstGeom prst="roundRect">
            <a:avLst>
              <a:gd name="adj" fmla="val 4545"/>
            </a:avLst>
          </a:prstGeom>
          <a:solidFill>
            <a:srgbClr val="F2F2F2">
              <a:alpha val="92000"/>
            </a:srgbClr>
          </a:solidFill>
          <a:ln w="12700">
            <a:solidFill>
              <a:srgbClr val="F2F2F2">
                <a:alpha val="4000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85800" y="3931920"/>
            <a:ext cx="1097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600" dirty="0"/>
          </a:p>
        </p:txBody>
      </p:sp>
      <p:sp>
        <p:nvSpPr>
          <p:cNvPr id="16" name="Text 13"/>
          <p:cNvSpPr/>
          <p:nvPr/>
        </p:nvSpPr>
        <p:spPr>
          <a:xfrm>
            <a:off x="1828800" y="397764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Затопление побережий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685800" y="4617720"/>
            <a:ext cx="49377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Штормовые нагоны поднимают уровень моря на 3–5 м выше нормы, затапливая целые города.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6126480" y="3749040"/>
            <a:ext cx="5394960" cy="2011680"/>
          </a:xfrm>
          <a:prstGeom prst="roundRect">
            <a:avLst>
              <a:gd name="adj" fmla="val 4545"/>
            </a:avLst>
          </a:prstGeom>
          <a:solidFill>
            <a:srgbClr val="F2F2F2">
              <a:alpha val="92000"/>
            </a:srgbClr>
          </a:solidFill>
          <a:ln w="12700">
            <a:solidFill>
              <a:srgbClr val="F2F2F2">
                <a:alpha val="40000"/>
              </a:srgbClr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355080" y="3931920"/>
            <a:ext cx="1097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600" dirty="0"/>
          </a:p>
        </p:txBody>
      </p:sp>
      <p:sp>
        <p:nvSpPr>
          <p:cNvPr id="20" name="Text 17"/>
          <p:cNvSpPr/>
          <p:nvPr/>
        </p:nvSpPr>
        <p:spPr>
          <a:xfrm>
            <a:off x="7498080" y="397764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Экологический ущерб</a:t>
            </a:r>
            <a:endParaRPr lang="en-US" sz="1800" dirty="0"/>
          </a:p>
        </p:txBody>
      </p:sp>
      <p:sp>
        <p:nvSpPr>
          <p:cNvPr id="21" name="Text 18"/>
          <p:cNvSpPr/>
          <p:nvPr/>
        </p:nvSpPr>
        <p:spPr>
          <a:xfrm>
            <a:off x="6355080" y="4617720"/>
            <a:ext cx="49377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Разлив нефти, гибель морской фауны, разрушение коралловых рифов и пляжей.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Штормы на море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9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Чем шторм полезен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1097280" cy="54864"/>
          </a:xfrm>
          <a:prstGeom prst="rect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14300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Парадокс: то, что разрушает — кормит и обновляет океан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1691640"/>
            <a:ext cx="365760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8288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🌊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325880" y="187452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Перемешивание вод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40080" y="2514600"/>
            <a:ext cx="32918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Шторм поднимает глубинные питательные вещества к поверхности — это запускает цветение фитопланктона, основы пищевой цепи.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251960" y="1691640"/>
            <a:ext cx="365760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434840" y="18288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💨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5120640" y="187452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Газообмен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434840" y="2514600"/>
            <a:ext cx="32918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Ветер и волны ускоряют обмен CO₂ и O₂ между океаном и атмосферой. Океан поглощает ~25% антропогенного CO₂ именно благодаря волнению.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046720" y="1691640"/>
            <a:ext cx="365760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0" y="18288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🐟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8915400" y="187452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Биоразнообразие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229600" y="2514600"/>
            <a:ext cx="32918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Прибрежные штормы переносят личинки, семена, икру на сотни километров — поддерживая генетическое разнообразие морских видов.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3886200"/>
            <a:ext cx="365760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40233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☔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1325880" y="406908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Пресная вода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40080" y="4709160"/>
            <a:ext cx="32918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Штормы приносят до 30–50% годовых осадков в прибрежных и островных регионах — это пресная вода для миллиардов людей.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251960" y="3886200"/>
            <a:ext cx="365760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434840" y="40233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⚡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5120640" y="406908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Энергия волн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4434840" y="4709160"/>
            <a:ext cx="32918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Мировой энергетический потенциал волн — около 2 ТВт. Штормы — это дармовая кинетическая энергия, которую учатся превращать в электричество.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8046720" y="3886200"/>
            <a:ext cx="365760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29600" y="40233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🏖</a:t>
            </a:r>
            <a:endParaRPr lang="en-US" sz="2800" dirty="0"/>
          </a:p>
        </p:txBody>
      </p:sp>
      <p:sp>
        <p:nvSpPr>
          <p:cNvPr id="27" name="Text 25"/>
          <p:cNvSpPr/>
          <p:nvPr/>
        </p:nvSpPr>
        <p:spPr>
          <a:xfrm>
            <a:off x="8915400" y="406908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Пляжи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8229600" y="4709160"/>
            <a:ext cx="32918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Волны перемалывают и доставляют песок, формируя пляжи, дюны и дельты рек.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Штормы на море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9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Штормы и эволюция жизни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1097280" cy="54864"/>
          </a:xfrm>
          <a:prstGeom prst="rect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371600"/>
            <a:ext cx="4572000" cy="33832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48006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Древнейший океан Земли, ~3,5 млрд лет назад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5486400" y="1280160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Шторм как двигатель эволюции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5486400" y="1828800"/>
            <a:ext cx="228600" cy="228600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852160" y="178308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3,5 млрд лет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7360920" y="1783080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Рождение жизни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7360920" y="2075688"/>
            <a:ext cx="42976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бурном, насыщенном энергией приливном океане формируются первые прокариоты — цианобактерии строят строматолиты.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5486400" y="2670048"/>
            <a:ext cx="228600" cy="228600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852160" y="2624328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2,4 млрд лет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7360920" y="2624328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Великое окисление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7360920" y="2916936"/>
            <a:ext cx="42976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Штормы перемешивают воду, распространяя кислород — побочный продукт фотосинтеза — по всему океану и в атмосферу.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5486400" y="3511296"/>
            <a:ext cx="228600" cy="228600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852160" y="3465576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540 млн лет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7360920" y="3465576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Кембрийский взрыв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7360920" y="3758184"/>
            <a:ext cx="42976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Усиление волн и течений создаёт новые экологические ниши, что приводит к взрывному росту многоклеточных.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5486400" y="4352544"/>
            <a:ext cx="228600" cy="228600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852160" y="4306824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375 млн лет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7360920" y="4306824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Выход на сушу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7360920" y="4599432"/>
            <a:ext cx="42976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Штормы выносят на берег первых рыб с мускулистыми плавниками. Их потомки станут четвероногими.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5486400" y="5193792"/>
            <a:ext cx="228600" cy="228600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852160" y="514807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66 млн лет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7360920" y="5148072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Перезагрузка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7360920" y="5440680"/>
            <a:ext cx="42976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Цунами и шторма после удара астероида добивают морских рептилий — освобождая нишу для млекопитающих.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Штормы на море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9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65A8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2F2F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Шторм и человек: тысячелетний диалог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1097280" cy="54864"/>
          </a:xfrm>
          <a:prstGeom prst="rect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463040"/>
            <a:ext cx="5486400" cy="2103120"/>
          </a:xfrm>
          <a:prstGeom prst="roundRect">
            <a:avLst>
              <a:gd name="adj" fmla="val 4348"/>
            </a:avLst>
          </a:prstGeom>
          <a:solidFill>
            <a:srgbClr val="F2F2F2">
              <a:alpha val="94000"/>
            </a:srgbClr>
          </a:solidFill>
          <a:ln w="12700">
            <a:solidFill>
              <a:srgbClr val="F2F2F2">
                <a:alpha val="3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69164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Мореходная наука</a:t>
            </a:r>
            <a:endParaRPr lang="en-US" sz="1800" dirty="0">
              <a:solidFill>
                <a:srgbClr val="FF0000"/>
              </a:solidFill>
            </a:endParaRPr>
          </a:p>
        </p:txBody>
      </p:sp>
      <p:sp>
        <p:nvSpPr>
          <p:cNvPr id="6" name="Text 4"/>
          <p:cNvSpPr/>
          <p:nvPr/>
        </p:nvSpPr>
        <p:spPr>
          <a:xfrm>
            <a:off x="731520" y="2240280"/>
            <a:ext cx="49377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Штормы заставили строить устойчивые суда, разработать киль, латинский парус, навигацию по звёздам.</a:t>
            </a:r>
            <a:endParaRPr lang="en-US" sz="1300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7" name="Shape 5"/>
          <p:cNvSpPr/>
          <p:nvPr/>
        </p:nvSpPr>
        <p:spPr>
          <a:xfrm>
            <a:off x="6217920" y="1463040"/>
            <a:ext cx="5486400" cy="2103120"/>
          </a:xfrm>
          <a:prstGeom prst="roundRect">
            <a:avLst>
              <a:gd name="adj" fmla="val 4348"/>
            </a:avLst>
          </a:prstGeom>
          <a:solidFill>
            <a:srgbClr val="F2F2F2">
              <a:alpha val="94000"/>
            </a:srgbClr>
          </a:solidFill>
          <a:ln w="12700">
            <a:solidFill>
              <a:srgbClr val="F2F2F2">
                <a:alpha val="3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92240" y="169164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Метеорология</a:t>
            </a:r>
            <a:endParaRPr lang="en-US" sz="1800" dirty="0">
              <a:solidFill>
                <a:srgbClr val="FF0000"/>
              </a:solidFill>
            </a:endParaRPr>
          </a:p>
        </p:txBody>
      </p:sp>
      <p:sp>
        <p:nvSpPr>
          <p:cNvPr id="9" name="Text 7"/>
          <p:cNvSpPr/>
          <p:nvPr/>
        </p:nvSpPr>
        <p:spPr>
          <a:xfrm>
            <a:off x="6492240" y="2240280"/>
            <a:ext cx="49377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Буря 1854 года в Крыму подтолкнула Наполеона III создать первую сеть метеостанций — родилась современная наука о погоде.</a:t>
            </a:r>
            <a:endParaRPr lang="en-US" sz="1300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0" name="Shape 8"/>
          <p:cNvSpPr/>
          <p:nvPr/>
        </p:nvSpPr>
        <p:spPr>
          <a:xfrm>
            <a:off x="457200" y="3840480"/>
            <a:ext cx="5486400" cy="2103120"/>
          </a:xfrm>
          <a:prstGeom prst="roundRect">
            <a:avLst>
              <a:gd name="adj" fmla="val 4348"/>
            </a:avLst>
          </a:prstGeom>
          <a:solidFill>
            <a:srgbClr val="F2F2F2">
              <a:alpha val="94000"/>
            </a:srgbClr>
          </a:solidFill>
          <a:ln w="12700">
            <a:solidFill>
              <a:srgbClr val="F2F2F2">
                <a:alpha val="3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406908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Архитектура</a:t>
            </a:r>
            <a:endParaRPr lang="en-US" sz="1800" dirty="0">
              <a:solidFill>
                <a:srgbClr val="FF0000"/>
              </a:solidFill>
            </a:endParaRPr>
          </a:p>
        </p:txBody>
      </p:sp>
      <p:sp>
        <p:nvSpPr>
          <p:cNvPr id="12" name="Text 10"/>
          <p:cNvSpPr/>
          <p:nvPr/>
        </p:nvSpPr>
        <p:spPr>
          <a:xfrm>
            <a:off x="731520" y="4617720"/>
            <a:ext cx="49377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Прибрежные города от Венеции до Токио проектируются с учётом штормов: волнорезы, дамбы, поднятые фундаменты.</a:t>
            </a:r>
            <a:endParaRPr lang="en-US" sz="1300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3" name="Shape 11"/>
          <p:cNvSpPr/>
          <p:nvPr/>
        </p:nvSpPr>
        <p:spPr>
          <a:xfrm>
            <a:off x="6217920" y="3840480"/>
            <a:ext cx="5486400" cy="2103120"/>
          </a:xfrm>
          <a:prstGeom prst="roundRect">
            <a:avLst>
              <a:gd name="adj" fmla="val 4348"/>
            </a:avLst>
          </a:prstGeom>
          <a:solidFill>
            <a:srgbClr val="F2F2F2">
              <a:alpha val="94000"/>
            </a:srgbClr>
          </a:solidFill>
          <a:ln w="12700">
            <a:solidFill>
              <a:srgbClr val="F2F2F2">
                <a:alpha val="3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92240" y="406908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Культура</a:t>
            </a:r>
            <a:endParaRPr lang="en-US" sz="1800" dirty="0">
              <a:solidFill>
                <a:srgbClr val="FF0000"/>
              </a:solidFill>
            </a:endParaRPr>
          </a:p>
        </p:txBody>
      </p:sp>
      <p:sp>
        <p:nvSpPr>
          <p:cNvPr id="15" name="Text 13"/>
          <p:cNvSpPr/>
          <p:nvPr/>
        </p:nvSpPr>
        <p:spPr>
          <a:xfrm>
            <a:off x="6492240" y="4617720"/>
            <a:ext cx="49377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"Буря" — отдельный жанр в литературе (от Гомера до Мелвилла) и излюбленный сюжет живописи (Айвазовский, Тёрнер).</a:t>
            </a:r>
            <a:endParaRPr lang="en-US" sz="1300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6" name="Text 14"/>
          <p:cNvSpPr/>
          <p:nvPr/>
        </p:nvSpPr>
        <p:spPr>
          <a:xfrm>
            <a:off x="457200" y="621792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«Человек моря — не тот, кто избегает шторма, а тот, кто научился его читать»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Штормы на море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9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>
            <a:alphaModFix amt="50000"/>
          </a:blip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1295C">
              <a:alpha val="60000"/>
            </a:srgbClr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Итог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457200" y="1188720"/>
            <a:ext cx="112471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2F2F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Шторм — это не катастрофа,</a:t>
            </a:r>
            <a:endParaRPr lang="en-US" sz="4400" dirty="0"/>
          </a:p>
          <a:p>
            <a:pPr marL="0" indent="0">
              <a:buNone/>
            </a:pPr>
            <a:r>
              <a:rPr lang="en-US" sz="4400" b="1" dirty="0">
                <a:solidFill>
                  <a:srgbClr val="F2F2F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а часть дыхания планеты</a:t>
            </a:r>
            <a:endParaRPr lang="en-US" sz="4400" dirty="0"/>
          </a:p>
        </p:txBody>
      </p:sp>
      <p:sp>
        <p:nvSpPr>
          <p:cNvPr id="6" name="Shape 3"/>
          <p:cNvSpPr/>
          <p:nvPr/>
        </p:nvSpPr>
        <p:spPr>
          <a:xfrm>
            <a:off x="640080" y="3291840"/>
            <a:ext cx="164592" cy="164592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960120" y="320040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Это — движение: перемешивает океан, разносит тепло, кислород и жизнь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640080" y="3886200"/>
            <a:ext cx="164592" cy="164592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960120" y="379476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Это — разрушение: каждый год уносит жизни, рушит города, ломает привычный мир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640080" y="4480560"/>
            <a:ext cx="164592" cy="164592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60120" y="438912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Это — творец: штормовая энергия двигала эволюцию 3,5 миллиарда лет</a:t>
            </a:r>
            <a:endParaRPr lang="en-US" sz="1800" dirty="0"/>
          </a:p>
        </p:txBody>
      </p:sp>
      <p:sp>
        <p:nvSpPr>
          <p:cNvPr id="12" name="Shape 9"/>
          <p:cNvSpPr/>
          <p:nvPr/>
        </p:nvSpPr>
        <p:spPr>
          <a:xfrm>
            <a:off x="640080" y="5074920"/>
            <a:ext cx="164592" cy="164592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960120" y="498348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Это — урок: человечество научилось читать, предсказывать и уважать стихию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457200" y="594360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i="1" dirty="0">
                <a:solidFill>
                  <a:srgbClr val="F2F2F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Спасибо за внимание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857</Words>
  <Application>Microsoft Macintosh PowerPoint</Application>
  <PresentationFormat>Широкоэкранный</PresentationFormat>
  <Paragraphs>125</Paragraphs>
  <Slides>9</Slides>
  <Notes>9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3" baseType="lpstr">
      <vt:lpstr>Arial</vt:lpstr>
      <vt:lpstr>Calibri</vt:lpstr>
      <vt:lpstr>Georgia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m13259</cp:lastModifiedBy>
  <cp:revision>3</cp:revision>
  <dcterms:created xsi:type="dcterms:W3CDTF">2026-06-02T05:09:10Z</dcterms:created>
  <dcterms:modified xsi:type="dcterms:W3CDTF">2026-06-02T05:28:49Z</dcterms:modified>
</cp:coreProperties>
</file>