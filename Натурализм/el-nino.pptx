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>
              <a:alpha val="65000"/>
            </a:srgbClr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502920"/>
            <a:ext cx="45720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КЛИМАТ · ТИХИЙ ОКЕАН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Эль-Ниньо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7D4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Климатический феномен Тихого океана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3246120"/>
            <a:ext cx="77724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это, чем полезно и чем вредно, влияние на жизнь на Земле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Доклад · 8 слайдов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Эль-Ниньо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Определение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Эль-Ниньо (исп. «малыш», «Христос») — колебание температуры поверхности тропической части Тихого океана, при котором тёплое течение приходит к берегам Перу и Эквадора. Это тёплая фаза ЭНСО — Эль-Ниньо — Южное колебание (El Niño–Southern Oscillation).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990088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26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Открытие: </a:t>
            </a:r>
            <a:pPr indent="0" marL="0">
              <a:buNone/>
            </a:pPr>
            <a:r>
              <a:rPr lang="en-US" sz="12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дали перуанские рыбаки: тёплое течение у берегов Перу к Рождеству — «малыш» / «Христос».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74136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101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Противоположность: </a:t>
            </a:r>
            <a:pPr indent="0" marL="0">
              <a:buNone/>
            </a:pPr>
            <a:r>
              <a:rPr lang="en-US" sz="12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Холодная фаза ЭНСО — Ла-Нинья («девочка»), усиливает пассаты и апвеллинг.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58184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941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Периодичность: </a:t>
            </a:r>
            <a:pPr indent="0" marL="0">
              <a:buNone/>
            </a:pPr>
            <a:r>
              <a:rPr lang="en-US" sz="12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Повторяется раз в 2–7 лет, длительность эпизода 9–12 месяцев.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4223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0782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Порог: </a:t>
            </a:r>
            <a:pPr indent="0" marL="0">
              <a:buNone/>
            </a:pPr>
            <a:r>
              <a:rPr lang="en-US" sz="12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Аномалия температуры поверхности океана ≥ +0,5 °C на протяжении 5+ месяцев подряд.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4622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Масштаб: </a:t>
            </a:r>
            <a:pPr indent="0" marL="0">
              <a:buNone/>
            </a:pPr>
            <a:r>
              <a:rPr lang="en-US" sz="12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Затрагивает атмосферу и океан от Южной Америки до Индонезии и далее — по всему земному шару.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77840" y="1143000"/>
            <a:ext cx="3108960" cy="3246120"/>
          </a:xfrm>
          <a:prstGeom prst="rect">
            <a:avLst/>
          </a:prstGeom>
          <a:solidFill>
            <a:srgbClr val="E6EEF3"/>
          </a:solidFill>
          <a:ln w="6350">
            <a:solidFill>
              <a:srgbClr val="C7D4DE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234440"/>
            <a:ext cx="2926080" cy="19202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669280" y="3200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Перуанские рыбаки у тёплого течения — первооткрыватели феномена (XIX век)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69280" y="4023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ЭНСО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48463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Эль-Ниньо · климат Тихого океана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29600" y="48463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Механизм: как работает Эль-Ниньо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Связь океана и атмосферы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Пассаты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обычные годы дуют с востока на запад и тянут тёплую воду к Индонезии.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Циркуляция Уолкера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замыкает контур: подъём воздуха на западе, опускание на востоке, у Перу.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Апвеллинг у Перу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поднимает холодную глубинную воду, богатую питательными веществами.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Эль-Ниньо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пассаты ослабевают, тёплая вода перераспределяется к востоку, апвеллинг подавляется.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143000"/>
            <a:ext cx="3840480" cy="3246120"/>
          </a:xfrm>
          <a:prstGeom prst="rect">
            <a:avLst/>
          </a:prstGeom>
          <a:solidFill>
            <a:srgbClr val="E6EEF3"/>
          </a:solidFill>
          <a:ln w="6350">
            <a:solidFill>
              <a:srgbClr val="C7D4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циркуляции Уолкера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1536192"/>
            <a:ext cx="3657600" cy="2011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937760" y="3611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Запад (Индонезия): </a:t>
            </a:r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тёплая вода, восходящий поток, дожди.
</a:t>
            </a:r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Восток (Перу): </a:t>
            </a:r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время Эль-Ниньо — тёплая вода, дожди; в норме — холодный апвеллинг, засуха.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8463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Эль-Ниньо · климат Тихого океана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8463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 полезно Эль-Ниньо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Умеренные проявления феномена приносят регионам осадки, мягкий климат и биологическое разнообразие.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97480" cy="1417320"/>
          </a:xfrm>
          <a:prstGeom prst="rect">
            <a:avLst/>
          </a:prstGeom>
          <a:solidFill>
            <a:srgbClr val="EAF3E1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73352"/>
            <a:ext cx="292608" cy="29260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655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Осадки в засушливых регионах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075688"/>
            <a:ext cx="24048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Юго-запад США и побережье Перу получают долгожданные дожди.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508760"/>
            <a:ext cx="2697480" cy="1417320"/>
          </a:xfrm>
          <a:prstGeom prst="rect">
            <a:avLst/>
          </a:prstGeom>
          <a:solidFill>
            <a:srgbClr val="EAF3E1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1673352"/>
            <a:ext cx="292608" cy="29260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1655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86200" y="1655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Мягкие зимы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02152" y="2075688"/>
            <a:ext cx="24048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Канада и север США переживают тёплые малоснежные зимы.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508760"/>
            <a:ext cx="2697480" cy="1417320"/>
          </a:xfrm>
          <a:prstGeom prst="rect">
            <a:avLst/>
          </a:prstGeom>
          <a:solidFill>
            <a:srgbClr val="EAF3E1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1673352"/>
            <a:ext cx="292608" cy="29260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1655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1655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Меньше ураганов в Атлантике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82512" y="2075688"/>
            <a:ext cx="24048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струйного течения подавляет тропические циклоны.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90672"/>
            <a:ext cx="2697480" cy="1417320"/>
          </a:xfrm>
          <a:prstGeom prst="rect">
            <a:avLst/>
          </a:prstGeom>
          <a:solidFill>
            <a:srgbClr val="EAF3E1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3255264"/>
            <a:ext cx="292608" cy="29260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2369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Пополнение водных запасов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3657600"/>
            <a:ext cx="24048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Водохранилища Калифорнии и Перу наполняются после засух.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37560" y="3090672"/>
            <a:ext cx="2697480" cy="1417320"/>
          </a:xfrm>
          <a:prstGeom prst="rect">
            <a:avLst/>
          </a:prstGeom>
          <a:solidFill>
            <a:srgbClr val="EAF3E1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02152" y="3255264"/>
            <a:ext cx="292608" cy="29260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2152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86200" y="32369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Рыбные запасы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02152" y="3657600"/>
            <a:ext cx="24048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восстановления апвеллинга — всплеск анчоуса и сардин.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3090672"/>
            <a:ext cx="2697480" cy="1417320"/>
          </a:xfrm>
          <a:prstGeom prst="rect">
            <a:avLst/>
          </a:prstGeom>
          <a:solidFill>
            <a:srgbClr val="EAF3E1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82512" y="3255264"/>
            <a:ext cx="292608" cy="29260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66560" y="32369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Биолюминесценция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82512" y="3657600"/>
            <a:ext cx="24048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берегов Калифорнии «красные приливы» светятся ночью.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пользы зависит от интенсивности: умеренные эпизоды полезны, сильные — разрушительны (см. слайд 5).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Эль-Ниньо · климат Тихого океана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8463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 вредно Эль-Ниньо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эпизоды Эль-Ниньо вызывают наводнения, засухи, гибель экосистем и миллиардные убытки.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926080" cy="2926080"/>
          </a:xfrm>
          <a:prstGeom prst="rect">
            <a:avLst/>
          </a:prstGeom>
          <a:solidFill>
            <a:srgbClr val="E6EEF3"/>
          </a:solidFill>
          <a:ln w="6350">
            <a:solidFill>
              <a:srgbClr val="C7D4D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2743200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Наводнения в Перу и Эквадоре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Селевые потоки разрушают инфраструктуру, уносят посевы и дома.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0" y="1463040"/>
            <a:ext cx="5029200" cy="713232"/>
          </a:xfrm>
          <a:prstGeom prst="rect">
            <a:avLst/>
          </a:prstGeom>
          <a:solidFill>
            <a:srgbClr val="FCE6E4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0" y="1463040"/>
            <a:ext cx="91440" cy="7132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58768" y="1527048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Засухи и пожары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858768" y="1792224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Австралия, Индонезия, Бразилия: нехватка воды, лесные пожары, гибель урожая.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7600" y="2249424"/>
            <a:ext cx="5029200" cy="713232"/>
          </a:xfrm>
          <a:prstGeom prst="rect">
            <a:avLst/>
          </a:prstGeom>
          <a:solidFill>
            <a:srgbClr val="FCE6E4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0" y="2249424"/>
            <a:ext cx="91440" cy="7132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58768" y="2313432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Коралловые рифы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858768" y="2578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Обесцвечивание (bleaching) рифов из-за перегрева поверхности океана.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0" y="3035808"/>
            <a:ext cx="5029200" cy="713232"/>
          </a:xfrm>
          <a:prstGeom prst="rect">
            <a:avLst/>
          </a:prstGeom>
          <a:solidFill>
            <a:srgbClr val="FCE6E4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0" y="3035808"/>
            <a:ext cx="91440" cy="7132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58768" y="3099816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Морская экосистема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858768" y="3364992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Гибель анчоусов и холодноводных видов у побережья Перу.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0" y="3822192"/>
            <a:ext cx="5029200" cy="713232"/>
          </a:xfrm>
          <a:prstGeom prst="rect">
            <a:avLst/>
          </a:prstGeom>
          <a:solidFill>
            <a:srgbClr val="FCE6E4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0" y="3822192"/>
            <a:ext cx="91440" cy="7132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58768" y="38862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Здоровье людей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3858768" y="4151376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Вспышки холеры, малярии и денге в тропических регионах.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44622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Ущерб 1982–83 и 1997–98: </a:t>
            </a:r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$4,1–5,7 трлн </a:t>
            </a:r>
            <a:pPr algn="ctr" indent="0" marL="0">
              <a:buNone/>
            </a:pPr>
            <a:r>
              <a:rPr lang="en-US" sz="1000" dirty="0">
                <a:solidFill>
                  <a:srgbClr val="C7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Прогноз до 2100 г.: </a:t>
            </a:r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$35 трлн </a:t>
            </a:r>
            <a:pPr algn="ctr" indent="0" marL="0">
              <a:buNone/>
            </a:pPr>
            <a:r>
              <a:rPr lang="en-US" sz="1000" dirty="0">
                <a:solidFill>
                  <a:srgbClr val="C7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Тихоокеанские ураганы усиливаются.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48463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Эль-Ниньо · климат Тихого океана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229600" y="48463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Исторические суперсобытия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069080" cy="1508760"/>
          </a:xfrm>
          <a:prstGeom prst="rect">
            <a:avLst/>
          </a:prstGeom>
          <a:solidFill>
            <a:srgbClr val="E6EEF3"/>
          </a:solidFill>
          <a:ln w="6350">
            <a:solidFill>
              <a:srgbClr val="C7D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91440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1982–1983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29000" y="1307592"/>
            <a:ext cx="960120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3075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Поворотный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61848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Открытие глобального масштаба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192938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по-настоящему глобальный эпизод. До него Эль-Ниньо считали локальным явлением у берегов Перу. Ущерб — миллиарды долларов; погибли более 2 000 человек.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143000"/>
            <a:ext cx="4069080" cy="1508760"/>
          </a:xfrm>
          <a:prstGeom prst="rect">
            <a:avLst/>
          </a:prstGeom>
          <a:solidFill>
            <a:srgbClr val="E6EEF3"/>
          </a:solidFill>
          <a:ln w="6350">
            <a:solidFill>
              <a:srgbClr val="C7D4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143000"/>
            <a:ext cx="91440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34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1997–1998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589520" y="1307592"/>
            <a:ext cx="960120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13075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век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61848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«Эль-Ниньо века»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46320" y="192938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Сильнейшее событие XX века: аномалии до +3 °C, засуха в Индонезии и Австралии, пожары, наводнения в Перу. Ущерб оценивается в $35–45 млрд.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16352"/>
            <a:ext cx="4069080" cy="1508760"/>
          </a:xfrm>
          <a:prstGeom prst="rect">
            <a:avLst/>
          </a:prstGeom>
          <a:solidFill>
            <a:srgbClr val="E6EEF3"/>
          </a:solidFill>
          <a:ln w="6350">
            <a:solidFill>
              <a:srgbClr val="C7D4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16352"/>
            <a:ext cx="91440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9077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2015–2016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429000" y="2980944"/>
            <a:ext cx="960120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9809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Рекорд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32918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Сильнейшее в истории наблюдений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360273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Рекордная аномалия температуры океана. Засуха в Эфиопии и Южной Африке, коралловые рифы потеряли до 30 % покрытия, тайфуны в Тихом океане.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816352"/>
            <a:ext cx="4069080" cy="1508760"/>
          </a:xfrm>
          <a:prstGeom prst="rect">
            <a:avLst/>
          </a:prstGeom>
          <a:solidFill>
            <a:srgbClr val="E6EEF3"/>
          </a:solidFill>
          <a:ln w="6350">
            <a:solidFill>
              <a:srgbClr val="C7D4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2816352"/>
            <a:ext cx="91440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9077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2023–2024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589520" y="2980944"/>
            <a:ext cx="960120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29809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2918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из пяти сильнейших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846320" y="360273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Аномалии до +2,0 °C. Аномальная жара, лесные пожары в Канаде, наводнения в Перу, засуха в бассейне Амазонки. Связь с глобальным потеплением.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вывод: с каждым десятилетием суперсобытия становятся чаще и интенсивнее на фоне глобального потепления.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Эль-Ниньо · климат Тихого океана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8463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Влияние на жизнь и эволюцию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Эль-Ниньо как фактор эволюции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82880" cy="1828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Вьюрки Дарвина. </a:t>
            </a:r>
            <a:pPr indent="0" marL="0">
              <a:buNone/>
            </a:pPr>
            <a:r>
              <a:rPr lang="en-US" sz="12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Галапагосские вьюрки: чередование засух и ливней меняет доступные семена — отбор работает на размер и форму клюва.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03704"/>
            <a:ext cx="182880" cy="1828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1226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Рифы. </a:t>
            </a:r>
            <a:pPr indent="0" marL="0">
              <a:buNone/>
            </a:pPr>
            <a:r>
              <a:rPr lang="en-US" sz="12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Коралловые рифы — биоразнообразие тропиков: после обесцвечивания выживают терпимые виды, меняется структура сообщества.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07208"/>
            <a:ext cx="182880" cy="1828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157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Миграции. </a:t>
            </a:r>
            <a:pPr indent="0" marL="0">
              <a:buNone/>
            </a:pPr>
            <a:r>
              <a:rPr lang="en-US" sz="12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Птицы и морские виды (тунцы, морские черепахи) смещают ареалы вслед за тёплой водой.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10712"/>
            <a:ext cx="182880" cy="1828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192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Андские культуры. </a:t>
            </a:r>
            <a:pPr indent="0" marL="0">
              <a:buNone/>
            </a:pPr>
            <a:r>
              <a:rPr lang="en-US" sz="12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Инки и мочика чтили «Священного мальчика»: тёплое течение означало дождь, гибель рыбы и угрозу урожаю.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14216"/>
            <a:ext cx="182880" cy="1828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227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Моче. </a:t>
            </a:r>
            <a:pPr indent="0" marL="0">
              <a:buNone/>
            </a:pPr>
            <a:r>
              <a:rPr lang="en-US" sz="1200" dirty="0">
                <a:solidFill>
                  <a:srgbClr val="22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Рыболовные цивилизации побережья Перу (моче) строили храмы и каналы в ответ на циклы ЭНСО.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143000"/>
            <a:ext cx="3840480" cy="3246120"/>
          </a:xfrm>
          <a:prstGeom prst="rect">
            <a:avLst/>
          </a:prstGeom>
          <a:solidFill>
            <a:srgbClr val="E6EEF3"/>
          </a:solidFill>
          <a:ln w="6350">
            <a:solidFill>
              <a:srgbClr val="C7D4DE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1234440"/>
            <a:ext cx="3657600" cy="1417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93776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Галапагосские вьюрки Дарвина — классический пример отбора под действием ЭНСО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37760" y="3154680"/>
            <a:ext cx="1737360" cy="1097280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0" y="3154680"/>
            <a:ext cx="1737360" cy="10972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37760" y="4279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Коралловый риф после обесцвечивания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6858000" y="4279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Засуха в Австралии — побочный эффект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57200" y="48463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Эль-Ниньо · климат Тихого океана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229600" y="48463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ЭНСО — «двигатель» глобального климата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749040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83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 +0,2 °C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 ЭНСО в среднемировую температуру воздуха за последние десятилетия.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691640"/>
            <a:ext cx="3840480" cy="1508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783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 °C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983480" y="2606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Парижского соглашения. Эль-Ниньо ускоряет приближение к этой отметке.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Прогноз на XXI век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Суперсобытия Эль-Ниньо будут происходить чаще и становиться интенсивнее из-за глобального потепления — рост тайфунов, засух, наводнений и ущерба для экономики и биоразнообразия.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4572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 ВМО · NOAA · ЮНЕП · Callahan et al., Science 2023 (Dartmouth College).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Эль-Ниньо — климатический феномен Тихого океана</dc:title>
  <dc:subject>PptxGenJS Presentation</dc:subject>
  <dc:creator>Декск-генератор</dc:creator>
  <cp:lastModifiedBy>Декск-генератор</cp:lastModifiedBy>
  <cp:revision>1</cp:revision>
  <dcterms:created xsi:type="dcterms:W3CDTF">2026-06-02T12:17:25Z</dcterms:created>
  <dcterms:modified xsi:type="dcterms:W3CDTF">2026-06-02T12:17:25Z</dcterms:modified>
</cp:coreProperties>
</file>