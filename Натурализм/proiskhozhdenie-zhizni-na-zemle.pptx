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>
              <a:alpha val="70000"/>
            </a:srgbClr>
          </a:solidFill>
          <a:ln w="12700">
            <a:solidFill>
              <a:srgbClr val="0A0E1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A0E1A">
              <a:alpha val="85000"/>
            </a:srgbClr>
          </a:solidFill>
          <a:ln w="12700">
            <a:solidFill>
              <a:srgbClr val="0A0E1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НАУЧНО-ПОПУЛЯРНАЯ ЛЕКЦИЯ / 2024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430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4E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Происхождение жизни на Земле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B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первичного бульона до кембрийского взрыва: четыре миллиарда лет химии, которая стала биологией.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этапов · 4,5 млрд лет · одна планета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6177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Аудитория: широкий читатель · Лекция-сводка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ВВЕДЕНИЕ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E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Загадка: как химия стала биологией?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E6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4,1 млрд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лет назад — возраст древнейших следов жизни в горных породах Западной Гренландии.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86868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1371600"/>
            <a:ext cx="54864" cy="8686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463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Какая среда?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75564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Гидротермальные источники, приливные зоны, атмосфера без кислорода.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2331720"/>
            <a:ext cx="3840480" cy="86868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331720"/>
            <a:ext cx="54864" cy="8686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423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молекулы?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71576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Аминокислоты, нуклеотиды, липиды — кирпичи будущих клеток.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3291840"/>
            <a:ext cx="3840480" cy="86868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3291840"/>
            <a:ext cx="54864" cy="8686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3832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сценарий?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67588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Химия → репликация → компартментализация → эволюция.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одна из гипотез не считается окончательно доказанной — это рабочая карта вопросов.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Происхождение жизни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75488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09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СРЕДА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E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Условия ранней Земли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36576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703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Катархейский океан: базальтовая кора, вулканические газы, ультрафиолет без озонового слоя.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434840" y="1371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фактов о планете 4 млрд лет назад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434840" y="1847088"/>
            <a:ext cx="109728" cy="10972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45152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Атмосфера: </a:t>
            </a:r>
            <a:pPr indent="0" marL="0">
              <a:buNone/>
            </a:pPr>
            <a:r>
              <a:rPr lang="en-US" sz="11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CO₂, N₂, водяной пар, следы H₂S — кислорода почти нет.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2350008"/>
            <a:ext cx="109728" cy="10972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45152" y="2286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Температура: </a:t>
            </a:r>
            <a:pPr indent="0" marL="0">
              <a:buNone/>
            </a:pPr>
            <a:r>
              <a:rPr lang="en-US" sz="11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Океан 60–80 °C; поверхность остывает медленно.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2852928"/>
            <a:ext cx="109728" cy="10972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2788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Энергия: </a:t>
            </a:r>
            <a:pPr indent="0" marL="0">
              <a:buNone/>
            </a:pPr>
            <a:r>
              <a:rPr lang="en-US" sz="11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Молнии, ультрафиолет, тепло источников, распад.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34840" y="3355848"/>
            <a:ext cx="109728" cy="10972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45152" y="3291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Вода: </a:t>
            </a:r>
            <a:pPr indent="0" marL="0">
              <a:buNone/>
            </a:pPr>
            <a:r>
              <a:rPr lang="en-US" sz="11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Жидкий океан стабилен с ~4,3 млрд лет.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34840" y="3858768"/>
            <a:ext cx="109728" cy="10972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45152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Fe: </a:t>
            </a:r>
            <a:pPr indent="0" marL="0">
              <a:buNone/>
            </a:pPr>
            <a:r>
              <a:rPr lang="en-US" sz="11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Fe²⁺ из гидротерм — восстановитель и катализатор.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Катархей и архей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75488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09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ХИМИЯ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E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Пребиотическая химия и минеральный катализ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365760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Гидротермальный источник: перепады pH, Fe-S-минералы, микропоры как "клетки".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434840" y="13716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простых молекул к строительным блокам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34840" y="1755648"/>
            <a:ext cx="54864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1737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 Миллера–Юри (1953)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0" y="19933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Искра в смеси CH₄, NH₃, H₂, H₂O даёт аминокислоты.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34840" y="2395728"/>
            <a:ext cx="54864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2377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Минеральные поверхности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0" y="26334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Монтмориллонит, пирит, Fe-S ускоряют синтез.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34840" y="3035808"/>
            <a:ext cx="54864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Градиенты источников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0" y="32735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Щелочное море vs кислая гидротерма — прототип обмена.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34840" y="3675888"/>
            <a:ext cx="54864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3657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Липидные везикулы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0" y="39136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Жирные кислоты образуют мембраны спонтанно.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Абиогенез: рабочая карта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75488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09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РЕПЛИКАЦИЯ И ОБОЛОЧКА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E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РНК-мир и протоклетки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246888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Рибозимы: РНК хранит информацию и катализирует реакции.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08960" y="1371600"/>
            <a:ext cx="2468880" cy="1737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0896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Протоклетка: липидный пузырёк удерживает реагенты.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80644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именно РНК?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852160" y="16916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 информацию, как ДНК.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Катализирует, как белки (рибосома — рибозим).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Способна к саморепликации in vitro.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Предшествует белкам и ДНК в логике происхождения.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02920" y="3794760"/>
            <a:ext cx="8183880" cy="86868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2920" y="3794760"/>
            <a:ext cx="54864" cy="868680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Компартментализация: </a:t>
            </a:r>
            <a:pPr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мембрана создаёт "внутри" и "снаружи" — отбор работает на уровне везикулы, а не отдельной молекулы.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РНК-мир + липидная оболочка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475488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09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КОРЕНЬ ДРЕВА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E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LUCA: общий предок, а не "первый организм"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41148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Современные линии расходятся от общего предка ~4,2 млрд лет назад.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84632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знаем о LUCA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847088"/>
            <a:ext cx="91440" cy="91440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7556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Возраст. </a:t>
            </a:r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4,2 млрд лет (Moody et al., 2024) — оценка с погрешностью.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2487168"/>
            <a:ext cx="91440" cy="91440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23957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Метаболизм. </a:t>
            </a:r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работали рибосомы, генетический код, АТФ-синтаза.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27248"/>
            <a:ext cx="91440" cy="91440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3035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Среда. </a:t>
            </a:r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Вероятно, гидротермальные источники, H₂ как донор.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3767328"/>
            <a:ext cx="91440" cy="91440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36758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A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путать. </a:t>
            </a:r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 — общий предок линий, а не самый первый организм.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46320" y="4389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оценкам возраста LUCA стоит относиться осторожно — горизонт обратной экстраполяции огромен.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Universal Common Ancestor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75488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09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B55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GOE · ~2,4 МЛРД ЛЕТ НАЗАД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E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Великое кислородное событие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40480" cy="219456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3840480" cy="54864"/>
          </a:xfrm>
          <a:prstGeom prst="rect">
            <a:avLst/>
          </a:prstGeom>
          <a:solidFill>
            <a:srgbClr val="B5532A"/>
          </a:solidFill>
          <a:ln w="12700">
            <a:solidFill>
              <a:srgbClr val="B55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O₂ в атмосфере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A9B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0,001 %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1–2 %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GOE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371600"/>
            <a:ext cx="4114800" cy="2194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Железосодержащие породы сохранили след окисления: Fe²⁺ → Fe³⁺.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4023360"/>
            <a:ext cx="8183880" cy="64008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4023360"/>
            <a:ext cx="54864" cy="640080"/>
          </a:xfrm>
          <a:prstGeom prst="rect">
            <a:avLst/>
          </a:prstGeom>
          <a:solidFill>
            <a:srgbClr val="B5532A"/>
          </a:solidFill>
          <a:ln w="12700">
            <a:solidFill>
              <a:srgbClr val="B553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5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Последствия: </a:t>
            </a:r>
            <a:pPr indent="0" marL="0">
              <a:buNone/>
            </a:pPr>
            <a:r>
              <a:rPr lang="en-US" sz="11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вымирание анаэробов, появление озонового слоя, окислительное фосфорилирование, путь к сложности.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 Oxidation Event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75488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09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СЛОЖНАЯ КЛЕТКА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E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Эукариогенез: Asgard и митохондрии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365760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Альфапротеобактерия становится митохондрией внутри архейной клетки.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434840" y="1371600"/>
            <a:ext cx="4251960" cy="86868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12064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Архейная клетка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20640" y="1755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Хозяин из линии Asgard (Lokiarchaeota и родственники).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34840" y="2331720"/>
            <a:ext cx="4251960" cy="86868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24231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120640" y="2423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Симбиоз с бактерией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20640" y="2715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Альфапротеобактерия даёт АТФ в обмен на укрытие.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34840" y="3291840"/>
            <a:ext cx="4251960" cy="86868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33832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120640" y="3383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Митохондрия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20640" y="36758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Геном симбионта сокращается — органелла с собственной ДНК.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34840" y="4297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Эукариоты — редкая ветвь жизни, появившаяся лишь ~1,5–2 млрд лет назад.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Eukaryogenesis + endosymbiosis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75488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09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ТЕЛА И РАЗНООБРАЗИЕ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E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Многоклеточность и кембрийский взрыв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365760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Кембрийское море: Anomalocaris, трилобиты, черви и первые хищники.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434840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большому телу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34840" y="1847088"/>
            <a:ext cx="109728" cy="10972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17556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млрд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7556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колониальные цианобактерии.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34840" y="2395728"/>
            <a:ext cx="109728" cy="10972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3042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 млрд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60720" y="2304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Зачатки клеточной дифференциации.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34840" y="2944368"/>
            <a:ext cx="109728" cy="10972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28529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635–539 млн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0" y="2852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Эдиакарская биота: мягкотелые формы.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34840" y="3493008"/>
            <a:ext cx="109728" cy="10972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34015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539 млн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60720" y="3401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Кембрийский взрыв: скелеты, глаза, хищники.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434840" y="4114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"Взрыв" — метафора: диверсификация шла быстро по геологическим меркам, но заняла миллионы лет.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Ediacaran → Cambrian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75488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СВОДКА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EB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Шкала времени и итоги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146304"/>
          </a:xfrm>
          <a:prstGeom prst="rect">
            <a:avLst/>
          </a:prstGeom>
          <a:solidFill>
            <a:srgbClr val="1B2740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" y="1773936"/>
            <a:ext cx="18288" cy="256032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36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78024" y="1773936"/>
            <a:ext cx="18288" cy="256032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9968" y="1536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67912" y="1773936"/>
            <a:ext cx="18288" cy="256032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536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57800" y="1773936"/>
            <a:ext cx="18288" cy="256032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1536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47688" y="1773936"/>
            <a:ext cx="18288" cy="256032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536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37576" y="1773936"/>
            <a:ext cx="18288" cy="256032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536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83680" y="20299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млрд лет назад →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97280" y="20299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глубже в прошлое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47088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РНК-мир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36976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26864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16752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Эукариоты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Кембрий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12801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ГЕОЛОГИЧЕСКАЯ ШКАЛА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3200400"/>
            <a:ext cx="2606040" cy="141732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200400"/>
            <a:ext cx="2606040" cy="54864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3337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Химия → биология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скачок, а непрерывный переход через градиенты энергии.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200400"/>
            <a:ext cx="2606040" cy="141732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200400"/>
            <a:ext cx="2606040" cy="54864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31920" y="3337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Среда определяет сценарий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74720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Гидротермы, приливы, атмосфера — гипотезы открыты.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3200400"/>
            <a:ext cx="2606040" cy="1417320"/>
          </a:xfrm>
          <a:prstGeom prst="rect">
            <a:avLst/>
          </a:prstGeom>
          <a:solidFill>
            <a:srgbClr val="111A2A"/>
          </a:solidFill>
          <a:ln w="6350">
            <a:solidFill>
              <a:srgbClr val="2A38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3200400"/>
            <a:ext cx="2606040" cy="54864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20840" y="3337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EB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Сложность нарастает медленно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63640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рибозимов до кембрия — ~4 млрд лет.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Конец лекции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75488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7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09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Происхождение жизни на Земле</dc:title>
  <dc:subject>Происхождение жизни на Земле</dc:subject>
  <dc:creator>Science Deck</dc:creator>
  <cp:lastModifiedBy>Science Deck</cp:lastModifiedBy>
  <cp:revision>1</cp:revision>
  <dcterms:created xsi:type="dcterms:W3CDTF">2026-06-12T06:58:38Z</dcterms:created>
  <dcterms:modified xsi:type="dcterms:W3CDTF">2026-06-12T06:58:38Z</dcterms:modified>
</cp:coreProperties>
</file>