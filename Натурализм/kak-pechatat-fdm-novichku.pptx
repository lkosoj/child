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5029200" cy="1463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757E"/>
                </a:solidFill>
              </a:rPr>
              <a:t>FDM • от теории к практике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5852160" cy="12344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</a:rPr>
              <a:t>FDM-ПЕЧАТЬ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</a:rPr>
              <a:t>С ПОЛНОГО НУЛЯ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21792" y="2423160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BFEDE6"/>
                </a:solidFill>
              </a:rPr>
              <a:t>Теория → слайсер → первая печать → диагностика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30632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244652"/>
          </a:solidFill>
          <a:ln w="10160">
            <a:solidFill>
              <a:srgbClr val="4B70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41248" y="3328416"/>
            <a:ext cx="516636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Понятные термины, безопасные действия и реальные карточки неисправностей.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78040" y="1298448"/>
            <a:ext cx="1627632" cy="21945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Anycubic Kobra 3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Anycubic Slicer / Slicer Next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Creality K1 Max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Creality 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78040" y="4224528"/>
            <a:ext cx="15544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52E"/>
                </a:solidFill>
              </a:rPr>
              <a:t>31 слайд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КАРТА КУРСА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Маршрут новичка: от устройства к исправлению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64008" cy="11430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28930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1. Устройство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36776"/>
            <a:ext cx="2221992" cy="6675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Что движется, греется и подаёт пластик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64008" cy="114300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47872" y="128930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2. Материал и слой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47872" y="1636776"/>
            <a:ext cx="2221992" cy="6675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Почему линии соединяются или деформируются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23444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199632" y="1234440"/>
            <a:ext cx="64008" cy="114300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364224" y="128930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3. Первый слой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1636776"/>
            <a:ext cx="2221992" cy="6675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Как выглядит эталон и как его тестировать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66928" y="2743200"/>
            <a:ext cx="64008" cy="11430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31520" y="27980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4. Слайсер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45536"/>
            <a:ext cx="2221992" cy="6675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Как форма превращается в команды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7432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383280" y="2743200"/>
            <a:ext cx="64008" cy="114300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547872" y="27980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5. Печать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47872" y="3145536"/>
            <a:ext cx="2221992" cy="6675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Безопасный запуск и наблюдение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27432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199632" y="2743200"/>
            <a:ext cx="64008" cy="114300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364224" y="27980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6. Диагностика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64224" y="3145536"/>
            <a:ext cx="2221992" cy="6675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Симптом → причина → один короткий тест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389120"/>
            <a:ext cx="777240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4747"/>
                </a:solidFill>
              </a:rPr>
              <a:t>Главный принцип: сначала понять наблюдаемый симптом, затем менять только одну вещь.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Что такое FDM и что делает принтер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9496" y="1143000"/>
            <a:ext cx="4032504" cy="3026664"/>
          </a:xfrm>
          <a:prstGeom prst="roundRect">
            <a:avLst>
              <a:gd name="adj" fmla="val 1511"/>
            </a:avLst>
          </a:prstGeom>
          <a:solidFill>
            <a:srgbClr val="FFFFFF"/>
          </a:solidFill>
          <a:ln w="1270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Схема послойной FDM-печати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170432"/>
            <a:ext cx="397764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92040" y="114300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4892040" y="1143000"/>
            <a:ext cx="73152" cy="100584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074920" y="1234440"/>
            <a:ext cx="3364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FDM — моделирование наплавлением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4920" y="1545336"/>
            <a:ext cx="3364992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Способ 3D-печати: принтер плавит пластиковую нить и укладывает расплав тонкими линиями, слой за слоем.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4892040" y="23774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892040" y="2377440"/>
            <a:ext cx="73152" cy="9144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074920" y="2468880"/>
            <a:ext cx="3364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Филамент — пластиковая нить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74920" y="2779776"/>
            <a:ext cx="3364992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Исходный материал на катушке. Механизм подачи проталкивает нить к нагревателю.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892040" y="35204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4892040" y="3520440"/>
            <a:ext cx="73152" cy="91440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5074920" y="3611880"/>
            <a:ext cx="3364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3D-печать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3922776"/>
            <a:ext cx="3364992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Изготовление объёмной детали добавлением материала, а не вырезанием из заготовки.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Как цифровая форма становится физической вещью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417320" cy="2286000"/>
          </a:xfrm>
          <a:prstGeom prst="roundRect">
            <a:avLst>
              <a:gd name="adj" fmla="val 3871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123444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39C3D"/>
                </a:solidFill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2103120"/>
            <a:ext cx="1197864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52E"/>
                </a:solidFill>
              </a:rPr>
              <a:t>Идея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596896"/>
            <a:ext cx="1197864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05862"/>
                </a:solidFill>
              </a:rPr>
              <a:t>назначение детали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21992" y="1325880"/>
            <a:ext cx="1417320" cy="2286000"/>
          </a:xfrm>
          <a:prstGeom prst="roundRect">
            <a:avLst>
              <a:gd name="adj" fmla="val 3871"/>
            </a:avLst>
          </a:prstGeom>
          <a:solidFill>
            <a:srgbClr val="E4F1F8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313432" y="1508760"/>
            <a:ext cx="123444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39C3D"/>
                </a:solidFill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31720" y="2103120"/>
            <a:ext cx="1197864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52E"/>
                </a:solidFill>
              </a:rPr>
              <a:t>Модель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596896"/>
            <a:ext cx="1197864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05862"/>
                </a:solidFill>
              </a:rPr>
              <a:t>геометрия STL/3MF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41064" y="1325880"/>
            <a:ext cx="1417320" cy="2286000"/>
          </a:xfrm>
          <a:prstGeom prst="roundRect">
            <a:avLst>
              <a:gd name="adj" fmla="val 3871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032504" y="1508760"/>
            <a:ext cx="123444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39C3D"/>
                </a:solidFill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050792" y="2103120"/>
            <a:ext cx="1197864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52E"/>
                </a:solidFill>
              </a:rPr>
              <a:t>Слайсер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50792" y="2596896"/>
            <a:ext cx="1197864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05862"/>
                </a:solidFill>
              </a:rPr>
              <a:t>план каждого слоя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0136" y="1325880"/>
            <a:ext cx="1417320" cy="2286000"/>
          </a:xfrm>
          <a:prstGeom prst="roundRect">
            <a:avLst>
              <a:gd name="adj" fmla="val 3871"/>
            </a:avLst>
          </a:prstGeom>
          <a:solidFill>
            <a:srgbClr val="E4F1F8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751576" y="1508760"/>
            <a:ext cx="123444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39C3D"/>
                </a:solidFill>
              </a:rPr>
              <a:t>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769864" y="2103120"/>
            <a:ext cx="1197864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52E"/>
                </a:solidFill>
              </a:rPr>
              <a:t>G-code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9864" y="2596896"/>
            <a:ext cx="1197864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05862"/>
                </a:solidFill>
              </a:rPr>
              <a:t>команды движения и нагрева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79208" y="1325880"/>
            <a:ext cx="1417320" cy="2286000"/>
          </a:xfrm>
          <a:prstGeom prst="roundRect">
            <a:avLst>
              <a:gd name="adj" fmla="val 3871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470648" y="1508760"/>
            <a:ext cx="123444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6885C"/>
                </a:solidFill>
              </a:rPr>
              <a:t>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488936" y="2103120"/>
            <a:ext cx="1197864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52E"/>
                </a:solidFill>
              </a:rPr>
              <a:t>Печать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88936" y="2596896"/>
            <a:ext cx="1197864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05862"/>
                </a:solidFill>
              </a:rPr>
              <a:t>линии соединяются в деталь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763524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747"/>
                </a:solidFill>
              </a:rPr>
              <a:t>Принтер не «понимает форму»: он лишь последовательно выполняет рассчитанные команды.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Устройство FDM-принтера: горячая и холодная части</a:t>
            </a:r>
            <a:endParaRPr lang="en-US" sz="2200" dirty="0"/>
          </a:p>
        </p:txBody>
      </p:sp>
      <p:pic>
        <p:nvPicPr>
          <p:cNvPr id="5" name="Image 0" descr="Anycubic Kobra 3 — пример FDM-принтер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65" y="990952"/>
            <a:ext cx="2044974" cy="37901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0" y="1143000"/>
            <a:ext cx="23591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3566160" y="1143000"/>
            <a:ext cx="73152" cy="100584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3749040" y="1234440"/>
            <a:ext cx="206654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Печатающая головка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545336"/>
            <a:ext cx="2066544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Движущийся узел, который несёт хотэнд, сопло и вентиляторы.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6144768" y="1143000"/>
            <a:ext cx="23591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6144768" y="1143000"/>
            <a:ext cx="73152" cy="100584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6327648" y="1234440"/>
            <a:ext cx="206654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Хотэнд / нагреватель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27648" y="1545336"/>
            <a:ext cx="2066544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Горячая часть головки: размягчает нить до текучего состояния.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566160" y="2423160"/>
            <a:ext cx="23591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3566160" y="2423160"/>
            <a:ext cx="73152" cy="100584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3749040" y="2514600"/>
            <a:ext cx="206654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Сопло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2825496"/>
            <a:ext cx="2066544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Металлический наконечник с малым отверстием, через которое выходит расплав.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144768" y="2423160"/>
            <a:ext cx="23591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6144768" y="2423160"/>
            <a:ext cx="73152" cy="1005840"/>
          </a:xfrm>
          <a:prstGeom prst="rect">
            <a:avLst/>
          </a:prstGeom>
          <a:solidFill>
            <a:srgbClr val="26885C"/>
          </a:solidFill>
          <a:ln w="1270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6327648" y="2514600"/>
            <a:ext cx="206654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Экструдер: подача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27648" y="2825496"/>
            <a:ext cx="2066544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Шестерни захватывают филамент и толкают его к хотэнду. Это механизм подачи.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3566160" y="3703320"/>
            <a:ext cx="49377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3566160" y="3703320"/>
            <a:ext cx="73152" cy="786384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3749040" y="3794760"/>
            <a:ext cx="46451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Стол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749040" y="4105656"/>
            <a:ext cx="4645152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Плоская нагреваемая поверхность, на которой печатается основание детали.</a:t>
            </a:r>
            <a:endParaRPr lang="en-US" sz="11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Оси, движение и почему механика важна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64008" cy="233172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58952" y="1243584"/>
            <a:ext cx="21305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Оси X, Y и 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91056"/>
            <a:ext cx="2130552" cy="18562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Ось — направление движения. X: влево–вправо. Y: вперёд–назад. Z: вверх–вниз. Координаты говорят головке, куда переместиться.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55848" y="1188720"/>
            <a:ext cx="64008" cy="233172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20440" y="1243584"/>
            <a:ext cx="21305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Перемещение без печати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591056"/>
            <a:ext cx="2130552" cy="18562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Головка может ехать к новой точке, не выдавливая пластик. На таких переездах возникают нити, если расплав сочится.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17336" y="118872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117336" y="1188720"/>
            <a:ext cx="64008" cy="233172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81928" y="1243584"/>
            <a:ext cx="21305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Почему бывает смещение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591056"/>
            <a:ext cx="2130552" cy="18562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Удар сопла о деталь, препятствие, слабое натяжение ремня или заедание могут сдвинуть все следующие слои.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41648"/>
            <a:ext cx="768096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747"/>
                </a:solidFill>
              </a:rPr>
              <a:t>Скрежет или удар — повод остановить печать, а не повышать скорость.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МАТЕРИАЛ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Филамент: PLA для старта, другие материалы — позже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2514600" cy="2514600"/>
          </a:xfrm>
          <a:prstGeom prst="roundRect">
            <a:avLst>
              <a:gd name="adj" fmla="val 2182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64008" cy="2514600"/>
          </a:xfrm>
          <a:prstGeom prst="rect">
            <a:avLst/>
          </a:prstGeom>
          <a:solidFill>
            <a:srgbClr val="26885C"/>
          </a:solidFill>
          <a:ln w="1270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225296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PLA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72768"/>
            <a:ext cx="2221992" cy="20391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Обычно проще печатается, меньше деформируется при остывании и подходит для учебных моделей. Начните с готового профиля PLA.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0128" y="1170432"/>
            <a:ext cx="2514600" cy="2514600"/>
          </a:xfrm>
          <a:prstGeom prst="roundRect">
            <a:avLst>
              <a:gd name="adj" fmla="val 2182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10128" y="1170432"/>
            <a:ext cx="64008" cy="25146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474720" y="1225296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PETG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72768"/>
            <a:ext cx="2221992" cy="20391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Вязкий и прочный, но может тянуть нити и слишком сильно прилипать к некоторым поверхностям. Нужен свой профиль.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1170432"/>
            <a:ext cx="2514600" cy="2514600"/>
          </a:xfrm>
          <a:prstGeom prst="roundRect">
            <a:avLst>
              <a:gd name="adj" fmla="val 2182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053328" y="1170432"/>
            <a:ext cx="64008" cy="251460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17920" y="1225296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ABS / ASA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72768"/>
            <a:ext cx="2221992" cy="20391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Заметнее сжимаются при охлаждении; чувствительны к сквозняку. Обычно требуют контролируемой температуры вокруг детали.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78A9"/>
                </a:solidFill>
              </a:rPr>
              <a:t>Сухая нить важна: влага превращается в пар, ухудшая ровность подачи и поверхность.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Адгезия и усадка: почему деталь держится или поднимается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73152" cy="1234440"/>
          </a:xfrm>
          <a:prstGeom prst="rect">
            <a:avLst/>
          </a:prstGeom>
          <a:solidFill>
            <a:srgbClr val="26885C"/>
          </a:solidFill>
          <a:ln w="1270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345643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Адгезия — сцепление со столом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91056"/>
            <a:ext cx="345643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Первый слой должен прилипнуть к чистой поверхности. Контакт создают правильное расстояние сопла, температура и непрерывная подача.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73152" cy="123444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45643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Усадка — уменьшение при охлаждении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91056"/>
            <a:ext cx="345643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Пластик сокращается, когда остывает. Если края охлаждаются быстрее центра, углы тянут основание вверх.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4008" cy="123444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58952" y="2843784"/>
            <a:ext cx="21305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Помогает адгезии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" y="3191256"/>
            <a:ext cx="2130552" cy="75895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Чистый стол, подходящий нагрев, достаточная площадь контакта.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64992" y="278892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364992" y="2788920"/>
            <a:ext cx="64008" cy="123444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529584" y="2843784"/>
            <a:ext cx="21305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Мешает адгезии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9584" y="3191256"/>
            <a:ext cx="2130552" cy="75895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Жир, пыль, слишком высокий зазор, пропуски подачи.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35624" y="278892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135624" y="2788920"/>
            <a:ext cx="64008" cy="123444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300216" y="2843784"/>
            <a:ext cx="213055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Усиливает усадку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216" y="3191256"/>
            <a:ext cx="2130552" cy="75895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Сквозняк, резкое охлаждение, неподходящая температура.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Параметры слоя: пять ручек и их последствия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15568"/>
            <a:ext cx="7909560" cy="512064"/>
          </a:xfrm>
          <a:prstGeom prst="roundRect">
            <a:avLst>
              <a:gd name="adj" fmla="val 10714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32588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Высота слоя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86000" y="1216152"/>
            <a:ext cx="59893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44B55"/>
                </a:solidFill>
              </a:rPr>
              <a:t>Толщина одного «этажа». Меньше → больше деталей и слоёв, но дольше печать.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621792" y="1773936"/>
            <a:ext cx="79095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32588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Ширина линии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1874520"/>
            <a:ext cx="59893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44B55"/>
                </a:solidFill>
              </a:rPr>
              <a:t>Ширина полоски пластика. Должна согласовываться с соплом и подачей.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21792" y="2432304"/>
            <a:ext cx="7909560" cy="512064"/>
          </a:xfrm>
          <a:prstGeom prst="roundRect">
            <a:avLst>
              <a:gd name="adj" fmla="val 10714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2551176"/>
            <a:ext cx="132588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Скорость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2532888"/>
            <a:ext cx="59893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44B55"/>
                </a:solidFill>
              </a:rPr>
              <a:t>Быстрее → меньше времени на нагрев и сцепление; слишком быстро даёт пропуски и слабые слои.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21792" y="3090672"/>
            <a:ext cx="79095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22960" y="3209544"/>
            <a:ext cx="132588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4747"/>
                </a:solidFill>
              </a:rPr>
              <a:t>Температура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3191256"/>
            <a:ext cx="59893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44B55"/>
                </a:solidFill>
              </a:rPr>
              <a:t>Выше → расплав течёт легче и лучше соединяется, но растут нити и риск перегрева.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21792" y="3749040"/>
            <a:ext cx="7909560" cy="512064"/>
          </a:xfrm>
          <a:prstGeom prst="roundRect">
            <a:avLst>
              <a:gd name="adj" fmla="val 10714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22960" y="3867912"/>
            <a:ext cx="132588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Обдув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86000" y="3849624"/>
            <a:ext cx="59893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44B55"/>
                </a:solidFill>
              </a:rPr>
              <a:t>Поток вентилятора охлаждает пластик. Помогает форме нависаний, но избыток ослабляет связь слоёв.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85800" y="4407408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878A9"/>
                </a:solidFill>
              </a:rPr>
              <a:t>Температура + скорость + обдув определяют, успеет ли линия выйти, лечь и соединиться.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Геометрия печати: стенки, заполнение, нависания и опоры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73152" cy="123444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Стенки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545336"/>
            <a:ext cx="222199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Внешние и внутренние контуры детали. Больше стенок обычно повышает прочность оболочки.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310128" y="11430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10128" y="1143000"/>
            <a:ext cx="73152" cy="123444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493008" y="123444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Заполнение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1545336"/>
            <a:ext cx="222199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Внутренний решётчатый рисунок. Поддерживает верхние поверхности и добавляет прочность без сплошного пластика.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053328" y="11430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053328" y="1143000"/>
            <a:ext cx="73152" cy="123444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36208" y="123444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Нависание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545336"/>
            <a:ext cx="222199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Участок нового слоя, под которым мало предыдущего слоя. Слишком крутое нависание провисает.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965960" y="278892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965960" y="2788920"/>
            <a:ext cx="73152" cy="123444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148840" y="288036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Опоры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3191256"/>
            <a:ext cx="222199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Временные конструкции под нависающими частями. После печати их снимают.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73152" cy="1234440"/>
          </a:xfrm>
          <a:prstGeom prst="rect">
            <a:avLst/>
          </a:prstGeom>
          <a:solidFill>
            <a:srgbClr val="26885C"/>
          </a:solidFill>
          <a:ln w="1270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846320" y="288036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Ориентация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191256"/>
            <a:ext cx="2221992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Положение модели на столе. Меняет опоры, прочность по слоям, время и качество поверхности.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КЛЮЧЕВОЙ НАВЫК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Первый слой — фундамент всей печати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23944" cy="3163824"/>
          </a:xfrm>
          <a:prstGeom prst="roundRect">
            <a:avLst>
              <a:gd name="adj" fmla="val 1445"/>
            </a:avLst>
          </a:prstGeom>
          <a:solidFill>
            <a:srgbClr val="FFFFFF"/>
          </a:solidFill>
          <a:ln w="1270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Сравнение слишком высокого, нормального и слишком низкого первого слоя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" y="1170432"/>
            <a:ext cx="40690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92040" y="114300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4892040" y="1143000"/>
            <a:ext cx="64008" cy="86868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056632" y="1197864"/>
            <a:ext cx="331927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Слишком высоко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56632" y="1545336"/>
            <a:ext cx="331927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Линии круглые, между ними щели; пластик легко отрывается.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21945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892040" y="2194560"/>
            <a:ext cx="64008" cy="868680"/>
          </a:xfrm>
          <a:prstGeom prst="rect">
            <a:avLst/>
          </a:prstGeom>
          <a:solidFill>
            <a:srgbClr val="26885C"/>
          </a:solidFill>
          <a:ln w="1270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056632" y="2249424"/>
            <a:ext cx="331927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Эталон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56632" y="2596896"/>
            <a:ext cx="331927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Ровные соприкасающиеся линии, слегка сплющенные, без щелей и высоких валиков.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92040" y="324612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4892040" y="3246120"/>
            <a:ext cx="64008" cy="86868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5056632" y="3300984"/>
            <a:ext cx="331927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Слишком низко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56632" y="3648456"/>
            <a:ext cx="331927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Сопло размазывает пластик: появляются валики, волны или почти нет выхода.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4352544"/>
            <a:ext cx="79552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C94747"/>
                </a:solidFill>
              </a:rPr>
              <a:t>Проверяйте тестовой плоскостью, а не случайной большой моделью и не сменой всех настроек.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ТЕОРИЯ → НАСТРОЙКА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Калибровка, выравнивание и Z-offset — не одно и то же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Калибровка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636776"/>
            <a:ext cx="2221992" cy="138074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Проверка и настройка измеряемых параметров принтера, чтобы команды соответствовали реальным движениям и подаче. Следуйте встроенной процедуре модели.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310128" y="123444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73152" cy="187452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493008" y="132588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Выравнивание стола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1636776"/>
            <a:ext cx="2221992" cy="138074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Измерение наклона и неровностей рабочей поверхности. Автоматика создаёт карту высот и компенсирует её при печати.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053328" y="123444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053328" y="1234440"/>
            <a:ext cx="73152" cy="187452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36208" y="1325880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Z-offset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636776"/>
            <a:ext cx="2221992" cy="138074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Смещение по высоте: небольшая поправка расстояния между соплом и столом. Влияет на прижим линий первого слоя.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804672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747"/>
                </a:solidFill>
              </a:rPr>
              <a:t>Безопасный метод: встроенная калибровка → тестовая плоскость → оценка линий → одна малая поправка Z-offset.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ПЕРЕХОД К СЛАЙСЕРУ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STL и 3MF: модель — это геометрия, а не инструкция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703320" cy="2423160"/>
          </a:xfrm>
          <a:prstGeom prst="roundRect">
            <a:avLst>
              <a:gd name="adj" fmla="val 2264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64008" cy="242316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58952" y="1243584"/>
            <a:ext cx="34107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STL — форма поверхности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91056"/>
            <a:ext cx="3410712" cy="19476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Файл хранит оболочку из треугольников: где находится поверхность модели. Обычно не хранит надёжно выбранный принтер, материал и параметры печати.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03320" cy="2423160"/>
          </a:xfrm>
          <a:prstGeom prst="roundRect">
            <a:avLst>
              <a:gd name="adj" fmla="val 2264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64008" cy="242316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010912" y="1243584"/>
            <a:ext cx="34107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3MF — контейнер проекта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3410712" cy="19476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3A45"/>
                </a:solidFill>
              </a:rPr>
              <a:t>Может хранить геометрию, несколько объектов, цвета и настройки проекта. Но перед печатью всё равно нужно проверить принтер и профиль.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749808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747"/>
                </a:solidFill>
              </a:rPr>
              <a:t>Ни STL, ни 3MF не говорят мотору «двигайся сюда». Для этого нужен слайсер.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СЛАЙСЕР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Слайсер: переводчик между 3D-моделью и принтером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9496" y="1207008"/>
            <a:ext cx="3483864" cy="2615184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Схема преобразования модели в послойную печать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234440"/>
            <a:ext cx="342900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43400" y="1143000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4343400" y="1143000"/>
            <a:ext cx="64008" cy="96012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4507992" y="1197864"/>
            <a:ext cx="38679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Что получает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07992" y="1545336"/>
            <a:ext cx="386791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3D-модель: геометрию поверхности. Принтер не умеет напрямую «понять форму».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64008" cy="96012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4507992" y="2386584"/>
            <a:ext cx="38679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Что делает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07992" y="2734056"/>
            <a:ext cx="386791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Выбирает сечения слой за слоем и строит траектории для сопла.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3520440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4343400" y="3520440"/>
            <a:ext cx="64008" cy="96012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507992" y="3575304"/>
            <a:ext cx="38679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Что выдаёт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07992" y="3922776"/>
            <a:ext cx="386791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G-code — последовательность команд: двигаться, греть, подавать пластик, включать обдув.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СЛАЙСЕР ПОДРОБНО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Что именно рассчитывает слайсер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64008" cy="694944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133856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Слои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На каких высотах делать горизонтальные сечения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64008" cy="694944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873752" y="1133856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Контуры и стенки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371600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По каким линиям строить внешнюю оболочку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938528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64008" cy="694944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31520" y="1993392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Заполнение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231136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Какой внутренний рисунок и плотность создать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938528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709160" y="1938528"/>
            <a:ext cx="64008" cy="694944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873752" y="1993392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Опоры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2231136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Где нужен временный пластик под нависаниями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798064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66928" y="2798064"/>
            <a:ext cx="64008" cy="694944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31520" y="2852928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Скорости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090672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С какой скоростью печатать стенки, заполнение и перемещения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798064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4709160" y="2798064"/>
            <a:ext cx="64008" cy="694944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873752" y="2852928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Температуры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3090672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Как греть сопло и стол для выбранного материала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3657600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566928" y="3657600"/>
            <a:ext cx="64008" cy="694944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31520" y="3712464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Перемещения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3950208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Как переезжать между участками без печати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657600"/>
            <a:ext cx="3822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709160" y="3657600"/>
            <a:ext cx="64008" cy="694944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4873752" y="3712464"/>
            <a:ext cx="352958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Ретракт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73752" y="3950208"/>
            <a:ext cx="3529584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F3A45"/>
                </a:solidFill>
              </a:rPr>
              <a:t>Короткое втягивание нити перед переездом, чтобы уменьшить подтекание</a:t>
            </a:r>
            <a:endParaRPr lang="en-US" sz="9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СЛАЙСЕР: МАРШРУТ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Какой слайсер выбрать для двух принтеров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B"/>
                </a:solidFill>
              </a:rPr>
              <a:t>Anycubic Kobra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1488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1. Установить Anycubic Slicer или Slicer Next.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2. Добавить принтер Kobra 3.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3. Сверить сопло и материал с реальной установкой.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4. Начать с системного профиля, не с чужого набора.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B"/>
                </a:solidFill>
              </a:rPr>
              <a:t>Creality K1 Max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21488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1. Установить Creality Print.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2. Добавить принтер K1 Max.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3. Сверить сопло и материал с реальной установкой.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52E"/>
                </a:solidFill>
              </a:rPr>
              <a:t>4. Начать с системного профиля и проверить предпросмотр.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78A9"/>
                </a:solidFill>
              </a:rPr>
              <a:t>Маршрут неизменен: принтер → сопло → материал → профиль → нарезка → предпросмотр. Названия кнопок могут отличаться по версии.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СЛАЙСЕР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Профиль: согласованный набор стартовых настроек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4688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73152" cy="224028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217627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Профиль принтера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45336"/>
            <a:ext cx="2176272" cy="174650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Рабочий объём, кинематика, допустимые скорости и особенности конкретной модели.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4688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73152" cy="224028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20440" y="1234440"/>
            <a:ext cx="217627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Профиль сопла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545336"/>
            <a:ext cx="2176272" cy="174650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Диаметр сопла и связанные ограничения ширины линии, высоты слоя и подачи.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4688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73152" cy="224028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63640" y="1234440"/>
            <a:ext cx="217627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Профиль материала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545336"/>
            <a:ext cx="2176272" cy="1746504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3A45"/>
                </a:solidFill>
              </a:rPr>
              <a:t>Стартовые температуры, обдув, скорости и ретракт для типа пластика.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7680960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747"/>
                </a:solidFill>
              </a:rPr>
              <a:t>Профиль — стартовая точка, а не гарантия: конкретная катушка и модель могут потребовать одного проверяемого изменения.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СЛАЙСЕР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Предпросмотр слоёв: проверка до расхода пластика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106424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85800" y="1211580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97864" y="1078992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Пролистать слои снизу вверх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97864" y="1362456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Есть ли первый слой и опора под каждой частью?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792224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85800" y="1897380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97864" y="1764792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Проверить стенки и заполнение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97864" y="2048256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Нет ли пропавших тонких элементов или пустот?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478024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85800" y="2583180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97864" y="2450592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Проверить нависания и опоры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97864" y="2734056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Поддержаны ли участки, которые печатаются «в воздухе»?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163824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85800" y="3268980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7864" y="3136392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Проверить перемещения и ретракт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97864" y="3419856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Много ли длинных переездов, на которых возможны нити?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849624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85800" y="3954780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97864" y="3822192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Проверить время, материал и смены цвета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97864" y="4105656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Нет ли неожиданного объёма отходов или лишних переключений?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553712"/>
            <a:ext cx="75895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4747"/>
                </a:solidFill>
              </a:rPr>
              <a:t>Если слой выглядит невозможным на экране, принтер не исправит его сам.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ПОШАГОВЫЙ СЦЕНАРИЙ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Слайсер: первый запуск без угадывания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1261872"/>
            <a:ext cx="196596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A999"/>
                </a:solidFill>
              </a:rPr>
              <a:t>1. Open / Открыть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71800" y="1234440"/>
            <a:ext cx="5166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4252E"/>
                </a:solidFill>
              </a:rPr>
              <a:t>Загрузить STL или 3MF. Проверить размер: миллиметры, не дюймы.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1764792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68680" y="1883664"/>
            <a:ext cx="196596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A999"/>
                </a:solidFill>
              </a:rPr>
              <a:t>2. Printer / Принтер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1856232"/>
            <a:ext cx="5166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4252E"/>
                </a:solidFill>
              </a:rPr>
              <a:t>Выбрать ровно свою модель: Kobra 3 или K1 Max.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8368" y="2386584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68680" y="2505456"/>
            <a:ext cx="196596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A999"/>
                </a:solidFill>
              </a:rPr>
              <a:t>3. Nozzle / Сопло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71800" y="2478024"/>
            <a:ext cx="5166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4252E"/>
                </a:solidFill>
              </a:rPr>
              <a:t>Выбрать фактически установленное сопло, обычно 0,4 мм.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58368" y="3008376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68680" y="3127248"/>
            <a:ext cx="196596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A999"/>
                </a:solidFill>
              </a:rPr>
              <a:t>4. Filament / Материал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71800" y="3099816"/>
            <a:ext cx="5166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4252E"/>
                </a:solidFill>
              </a:rPr>
              <a:t>Выбрать PLA и профиль конкретной катушки, если он есть.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8368" y="3630168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DDF4E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196596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A999"/>
                </a:solidFill>
              </a:rPr>
              <a:t>5. Prepare / Подготовить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71800" y="3721608"/>
            <a:ext cx="5166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4252E"/>
                </a:solidFill>
              </a:rPr>
              <a:t>Проверить модель на столе и нажать Slice / Нарезать.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85800" y="4407408"/>
            <a:ext cx="77724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4747"/>
                </a:solidFill>
              </a:rPr>
              <a:t>Сначала корректный профиль принтера + сопла + материала; ручные настройки — только после первой базовой печати.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КОНКРЕТНЫЕ КНОПКИ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Выбор программы и профиля: Kobra 3 и K1 Max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3794760" cy="2926080"/>
          </a:xfrm>
          <a:prstGeom prst="roundRect">
            <a:avLst>
              <a:gd name="adj" fmla="val 1875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782312" y="1143000"/>
            <a:ext cx="3794760" cy="2926080"/>
          </a:xfrm>
          <a:prstGeom prst="roundRect">
            <a:avLst>
              <a:gd name="adj" fmla="val 1875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04672" y="1353312"/>
            <a:ext cx="329184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B"/>
                </a:solidFill>
              </a:rPr>
              <a:t>ANYCUBIC KOBRA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3246120" cy="16916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1  Установить Anycubic Slicer / Slicer Next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2  Printer → Add printer → Kobra 3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3  Nozzle → 0.4 mm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4  Filament → PLA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5  Нажать Slice / Prepare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10912" y="1353312"/>
            <a:ext cx="329184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B"/>
                </a:solidFill>
              </a:rPr>
              <a:t>CREALITY K1 MAX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55648"/>
            <a:ext cx="3246120" cy="16916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1  Установить Creality Print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2  Printer → Add → K1 Max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3  Nozzle → 0.4 mm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4  Filament → PLA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252E"/>
                </a:solidFill>
              </a:rPr>
              <a:t>5  Нажать Slice / Prepare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61104"/>
            <a:ext cx="777240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4747"/>
                </a:solidFill>
              </a:rPr>
              <a:t>Если программа предлагает несколько профилей, совпадение модели принтера и диаметра сопла важнее привычного названия кнопки.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ДО ОТПРАВКИ НА ПРИНТЕР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Slice → Preview: проверка до расхода пластика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106424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85800" y="1211580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97864" y="1078992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Slice / Нарезать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97864" y="1362456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Дождаться окончания расчёта и прочитать предупреждения о модели.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85800" y="1869948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97864" y="1737360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Вид слоя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97864" y="2020824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Переключить Preview и пролистать слои от первого до последнего.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85800" y="2528316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97864" y="2395728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Стены и заполнение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97864" y="2679192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Проверить непрерывность внешних контуров и наличие заполнения.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85800" y="3186684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7864" y="3054096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Опоры и нависания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97864" y="3337560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Проверить места, где траектория печатается «в воздухе».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739896"/>
            <a:ext cx="384048" cy="384048"/>
          </a:xfrm>
          <a:prstGeom prst="ellipse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85800" y="3845052"/>
            <a:ext cx="384048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52E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97864" y="3712464"/>
            <a:ext cx="72603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52E"/>
                </a:solidFill>
              </a:rPr>
              <a:t>Время и материал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97864" y="3995928"/>
            <a:ext cx="726033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05862"/>
                </a:solidFill>
              </a:rPr>
              <a:t>Сверить оценку времени, массу филамента и неожиданные смены.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425696"/>
            <a:ext cx="79552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4747"/>
                </a:solidFill>
              </a:rPr>
              <a:t>Preview — это проверка плана печати. Не отправляйте G-code, пока не просмотрели первый слой и сложные места.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ПОСЛЕДНИЙ ШАГ СЛАЙСЕРА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Export / Send: как передать файл принтеру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2514600" cy="2468880"/>
          </a:xfrm>
          <a:prstGeom prst="roundRect">
            <a:avLst>
              <a:gd name="adj" fmla="val 2222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64008" cy="246888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1978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Вариант A: Send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45336"/>
            <a:ext cx="2221992" cy="19933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Если слайсер подключён к принтеру по сети: нажать Send / Print plate, выбрать устройство и дождаться подтверждения загрузки.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143000"/>
            <a:ext cx="2514600" cy="2468880"/>
          </a:xfrm>
          <a:prstGeom prst="roundRect">
            <a:avLst>
              <a:gd name="adj" fmla="val 2222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10128" y="1143000"/>
            <a:ext cx="64008" cy="246888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474720" y="11978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Вариант B: Export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45336"/>
            <a:ext cx="2221992" cy="19933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Нажать Export / Save G-code, сохранить файл с понятным именем на диск или USB и выбрать его на экране принтера.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1143000"/>
            <a:ext cx="2514600" cy="2468880"/>
          </a:xfrm>
          <a:prstGeom prst="roundRect">
            <a:avLst>
              <a:gd name="adj" fmla="val 2222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053328" y="1143000"/>
            <a:ext cx="64008" cy="2468880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17920" y="11978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Перед Start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45336"/>
            <a:ext cx="2221992" cy="19933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3A45"/>
                </a:solidFill>
              </a:rPr>
              <a:t>Убедиться, что файл адресован своей модели, стол пуст, нить заправлена, а сопло и стол могут безопасно нагреваться.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4747"/>
                </a:solidFill>
              </a:rPr>
              <a:t>STL/3MF → Slice → Preview → Export/Send → выбрать файл на принтере → наблюдать первый слой.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ПРАКТИКА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Подготовка рабочего места и принтера</a:t>
            </a:r>
            <a:endParaRPr lang="en-US" sz="2200" dirty="0"/>
          </a:p>
        </p:txBody>
      </p:sp>
      <p:pic>
        <p:nvPicPr>
          <p:cNvPr id="5" name="Image 0" descr="Creality K1 Ma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" y="832104"/>
            <a:ext cx="342900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0" y="1188720"/>
            <a:ext cx="507492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4252E"/>
                </a:solidFill>
              </a:rPr>
              <a:t>Принтер стоит устойчиво; кабель, катушка и трубка не натянуты.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4252E"/>
                </a:solidFill>
              </a:rPr>
              <a:t>Установлена сухая нить, катушка свободно вращается.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4252E"/>
                </a:solidFill>
              </a:rPr>
              <a:t>Стол очищен подходящим средством и не трогается пальцами.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4252E"/>
                </a:solidFill>
              </a:rPr>
              <a:t>Выполнена предусмотренная производителем калибровка и выравнивание.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4252E"/>
                </a:solidFill>
              </a:rPr>
              <a:t>Горячее сопло и стол не трогают руками; первую печать не оставляют без наблюдения.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56432" y="4169664"/>
            <a:ext cx="498348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94747"/>
                </a:solidFill>
              </a:rPr>
              <a:t>Сначала безопасность и чистота — затем нагрев и старт.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ПРАКТИКА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Первая модель в слайсере: последовательность без угадывания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E4F1F8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362456"/>
            <a:ext cx="32004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3D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98448" y="1335024"/>
            <a:ext cx="224028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Открыть STL/3MF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75888" y="1316736"/>
            <a:ext cx="4590288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3A45"/>
                </a:solidFill>
              </a:rPr>
              <a:t>Убедиться, что размер и ориентация правдоподобны.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2002536"/>
            <a:ext cx="32004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3D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1975104"/>
            <a:ext cx="224028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Выбрать принтер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75888" y="1956816"/>
            <a:ext cx="4590288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3A45"/>
                </a:solidFill>
              </a:rPr>
              <a:t>Kobra 3 либо K1 Max — точно свою машину.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51460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E4F1F8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04672" y="2642616"/>
            <a:ext cx="32004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3D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2615184"/>
            <a:ext cx="224028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Выбрать сопло и PLA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75888" y="2596896"/>
            <a:ext cx="4590288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3A45"/>
                </a:solidFill>
              </a:rPr>
              <a:t>Сверить с фактически установленными.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15468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282696"/>
            <a:ext cx="32004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3D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255264"/>
            <a:ext cx="224028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Оставить базовый профиль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75888" y="3236976"/>
            <a:ext cx="4590288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3A45"/>
                </a:solidFill>
              </a:rPr>
              <a:t>Не копировать случайные «быстрые» настройки.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79476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E4F1F8"/>
          </a:solidFill>
          <a:ln w="10160">
            <a:solidFill>
              <a:srgbClr val="C9D5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04672" y="3922776"/>
            <a:ext cx="32004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3D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3895344"/>
            <a:ext cx="224028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52E"/>
                </a:solidFill>
              </a:rPr>
              <a:t>Нарезать → предпросмотр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75888" y="3877056"/>
            <a:ext cx="4590288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3A45"/>
                </a:solidFill>
              </a:rPr>
              <a:t>Проверить слои, стенки, заполнение, опоры и время.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ПРАКТИКА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Запуск печати: что наблюдать и когда остановить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64008" cy="2423160"/>
          </a:xfrm>
          <a:prstGeom prst="rect">
            <a:avLst/>
          </a:prstGeom>
          <a:solidFill>
            <a:srgbClr val="2878A9"/>
          </a:solidFill>
          <a:ln w="1270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1978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До движения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45336"/>
            <a:ext cx="2221992" cy="19476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3A45"/>
                </a:solidFill>
              </a:rPr>
              <a:t>Файл соответствует принтеру. Нить подаётся. На столе нет старых деталей и инструмента. Профиль выбран верно.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0128" y="114300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310128" y="1143000"/>
            <a:ext cx="64008" cy="2423160"/>
          </a:xfrm>
          <a:prstGeom prst="rect">
            <a:avLst/>
          </a:prstGeom>
          <a:solidFill>
            <a:srgbClr val="26885C"/>
          </a:solidFill>
          <a:ln w="1270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474720" y="11978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Во время начала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45336"/>
            <a:ext cx="2221992" cy="19476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3A45"/>
                </a:solidFill>
              </a:rPr>
              <a:t>Сопло очищено, пластик выходит непрерывно. Первый слой соответствует эталону: линии ровные, соприкасаются и слегка сплющены.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53328" y="114300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053328" y="1143000"/>
            <a:ext cx="64008" cy="242316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217920" y="1197864"/>
            <a:ext cx="222199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52E"/>
                </a:solidFill>
              </a:rPr>
              <a:t>Немедленно остановить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45336"/>
            <a:ext cx="2221992" cy="194767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3A45"/>
                </a:solidFill>
              </a:rPr>
              <a:t>Удар, скрежет, зацеп сопла, дым, резкий необычный запах, спутанная нить или деталь оторвалась и ездит по столу.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768096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747"/>
                </a:solidFill>
              </a:rPr>
              <a:t>Остановка — нормальная часть диагностики, а не провал.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ПРАКТИКА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Kobra 3 + ACE Pro: многоцветная печать без сюрпризов</a:t>
            </a:r>
            <a:endParaRPr lang="en-US" sz="2200" dirty="0"/>
          </a:p>
        </p:txBody>
      </p:sp>
      <p:pic>
        <p:nvPicPr>
          <p:cNvPr id="5" name="Image 0" descr="Anycubic Kobr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97" y="945662"/>
            <a:ext cx="1963303" cy="3740638"/>
          </a:xfrm>
          <a:prstGeom prst="rect">
            <a:avLst/>
          </a:prstGeom>
        </p:spPr>
      </p:pic>
      <p:pic>
        <p:nvPicPr>
          <p:cNvPr id="7" name="Image 1" descr="ACE Pro — система подачи нескольких катуше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417320"/>
            <a:ext cx="2057400" cy="1154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0680" y="1170432"/>
            <a:ext cx="3063240" cy="31546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Каждая сухая катушка свободно вращается; путь нити не пережат.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В слайсере каждой части модели назначен нужный цвет/слот.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В предпросмотре проверены места смены и объём очистки сопла.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Очистка при смене выталкивает старый цвет: это расход и отходы.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Сначала выполнить маленький тест смены цветов, затем большую модель.</a:t>
            </a:r>
            <a:endParaRPr lang="en-US" sz="1220" dirty="0"/>
          </a:p>
        </p:txBody>
      </p:sp>
      <p:sp>
        <p:nvSpPr>
          <p:cNvPr id="9" name="Text 5"/>
          <p:cNvSpPr/>
          <p:nvPr/>
        </p:nvSpPr>
        <p:spPr>
          <a:xfrm>
            <a:off x="2999232" y="3767328"/>
            <a:ext cx="224028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878A9"/>
                </a:solidFill>
              </a:rPr>
              <a:t>ACE Pro — система хранения и автоматической подачи нескольких нитей к принтеру.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Безопасная последовательность диагностики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64008" cy="512064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22960" y="1152144"/>
            <a:ext cx="7571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СТОП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389888"/>
            <a:ext cx="7571232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3A45"/>
                </a:solidFill>
              </a:rPr>
              <a:t>При ударе, скрежете, дыме или резком запахе остановить печать и нагрев.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37947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64008" cy="63093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22960" y="1837944"/>
            <a:ext cx="350215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1. Стол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3502152" cy="26517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3A45"/>
                </a:solidFill>
              </a:rPr>
              <a:t>Чистота, отсутствие мусора, надёжная установка поверхности.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37947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64008" cy="63093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919472" y="1837944"/>
            <a:ext cx="350215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2. Нить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2075688"/>
            <a:ext cx="3502152" cy="26517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3A45"/>
                </a:solidFill>
              </a:rPr>
              <a:t>Свободная катушка, сухость, отсутствие узлов и пережатия пути.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8368" y="2615184"/>
            <a:ext cx="37947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58368" y="2615184"/>
            <a:ext cx="64008" cy="630936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22960" y="2670048"/>
            <a:ext cx="350215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3. Сопло и подача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907792"/>
            <a:ext cx="3502152" cy="26517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3A45"/>
                </a:solidFill>
              </a:rPr>
              <a:t>Есть ли ровный выход пластика; не забито ли сопло; захватывает ли экструдер.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754880" y="2615184"/>
            <a:ext cx="37947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754880" y="2615184"/>
            <a:ext cx="64008" cy="63093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919472" y="2670048"/>
            <a:ext cx="350215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4. Профиль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907792"/>
            <a:ext cx="3502152" cy="26517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3A45"/>
                </a:solidFill>
              </a:rPr>
              <a:t>Верны ли принтер, сопло и материал.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58368" y="3447288"/>
            <a:ext cx="37947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58368" y="3447288"/>
            <a:ext cx="64008" cy="63093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822960" y="3502152"/>
            <a:ext cx="350215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5. Первый слой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739896"/>
            <a:ext cx="3502152" cy="26517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3A45"/>
                </a:solidFill>
              </a:rPr>
              <a:t>Сделать короткий тест плоскости и сравнить линии с эталоном.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754880" y="3447288"/>
            <a:ext cx="37947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4754880" y="3447288"/>
            <a:ext cx="64008" cy="630936"/>
          </a:xfrm>
          <a:prstGeom prst="rect">
            <a:avLst/>
          </a:prstGeom>
          <a:solidFill>
            <a:srgbClr val="F39C3D"/>
          </a:solidFill>
          <a:ln w="1270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919472" y="3502152"/>
            <a:ext cx="350215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252E"/>
                </a:solidFill>
              </a:rPr>
              <a:t>6. Один параметр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739896"/>
            <a:ext cx="3502152" cy="26517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3A45"/>
                </a:solidFill>
              </a:rPr>
              <a:t>Изменить только одну величину и повторить короткий тест.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8368" y="4480560"/>
            <a:ext cx="786384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4747"/>
                </a:solidFill>
              </a:rPr>
              <a:t>Не менять пять параметров сразу: иначе невозможно понять, что помогло или ухудшило результат.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Плохая адгезия / первый слой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Линии не держатся, расходятся щелями, размазываются валиком или пластик выходит с пропусками.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Сопло слишком высоко или низко; стол грязный; нестабильная подача нити.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Остановить и посмотреть тестовую плоскость: форма линий + чистота стола + ровный выход пластика.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Очистить стол и повторить тот же короткий тест без других изменений.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Линии ровные, непрерывные, соприкасаются и слегка сплющены; плоскость снимается цельной.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590288"/>
            <a:ext cx="768096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57E"/>
                </a:solidFill>
              </a:rPr>
              <a:t>Если чистота не помогла, следующая отдельная проверка — малая поправка Z-offset или подача.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Under-extrusion / недоэкструзия: пропуски пластика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Тонкие линии, щели в стенках, прозрачные участки, прерывистая подача, слабая деталь.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Сопло частично забито; нить заедает; экструдер проскальзывает; скорость выше доступной подачи.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На прогретом принтере проверить, выходит ли пластик ровной непрерывной струёй при штатной подаче.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Устранить препятствие в пути нити и повторить короткий тест одной стенки.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Линия стала одинаковой ширины без разрывов, стенка сплошная, щелчки механизма подачи исчезли.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Stringing / нити между частями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Тонкие «паутинки» остаются между отдельными башнями и участками после переездов.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Слишком высокая температура; влажная нить; недостаточный ретракт; загрязнённое сопло.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Проверить сухость нити и чистоту сопла, затем убедиться, что в профиле включён штатный ретракт.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Снизить температуру на один небольшой шаг и напечатать короткий тест из двух башен.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Между башнями меньше нитей, а стенки и слои по-прежнему хорошо соединены.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590288"/>
            <a:ext cx="768096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57E"/>
                </a:solidFill>
              </a:rPr>
              <a:t>Ретракт — короткое втягивание нити перед переездом; не увеличивайте его одновременно с температурой.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Warping / подъём углов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Угол основания загибается вверх; нижняя кромка выгнута; иногда деталь отрывается целиком.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Усадка при охлаждении, сквозняк, неподходящая температура стола или малая площадь контакта.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Проверить чистоту и температуру стола, наличие сквозняка и реальную площадь касания модели.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Добавить brim / кайму — несколько дополнительных линий вокруг основания — и повторить тест.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Углы остаются плоскими и прижатыми к столу до конца печати.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590288"/>
            <a:ext cx="768096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57E"/>
                </a:solidFill>
              </a:rPr>
              <a:t>Brim не является частью модели: кайму снимают после печати.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Layer separation / расслоение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Слои расходятся трещинами, деталь легко ломается по горизонтальным линиям.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Слишком низкая температура сопла, слишком сильный обдув или чрезмерная скорость.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Сверить температуру, обдув и скорость с профилем материала; оценить, не дует ли на деталь слишком сильно.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Повысить температуру сопла на один небольшой шаг и повторить короткий тест стенки.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Трещин меньше, слои не отделяются ногтем, деталь прочнее при том же направлении нагрузки.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Layer shift / смещение слоёв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 определённой высоты вся деталь внезапно сдвинута в сторону, хотя нижняя часть ровная.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Сопло ударило деталь; движение встретило препятствие; ремень/ролики ослаблены или механизм заедает.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Остановить и вручную, на остывшем и обесточенном по инструкции принтере, проверить препятствия и свободный ход.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Убрать препятствие или надёжно закрепить мешавший кабель/деталь, затем выполнить короткий тест движения.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Новые слои совмещаются с нижними; нет ударов, пропусков движения и повторного сдвига.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ДИАГНОСТИКА: СИМПТОМ → БЫСТРЫЙ ФИКС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Плохая многоцветная смена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133856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CE4E4"/>
          </a:solidFill>
          <a:ln w="10160">
            <a:solidFill>
              <a:srgbClr val="C947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04672" y="1243584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4747"/>
                </a:solidFill>
              </a:rPr>
              <a:t>КАК ВЫГЛЯДИТ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61488" y="1207008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Нужный цвет не подаётся, цвет смешивается слишком долго, нить застревает или смена прерывается.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801368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FFF0DC"/>
          </a:solidFill>
          <a:ln w="10160">
            <a:solidFill>
              <a:srgbClr val="F39C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39C3D"/>
                </a:solidFill>
              </a:rPr>
              <a:t>ВЕРОЯТНАЯ ПРИЧИНА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61488" y="1874520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Катушка не вращается; путь нити пережат; слот назначен неверно; очистка недостаточна; сопло загрязнено.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04672" y="2578608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878A9"/>
                </a:solidFill>
              </a:rPr>
              <a:t>ЧТО ПРОВЕРИТЬ ПЕРВЫМ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761488" y="2542032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Проверить нужную катушку, слот, весь путь нити до головы и предпросмотр места смены.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DDF4EF"/>
          </a:solidFill>
          <a:ln w="1016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8A999"/>
                </a:solidFill>
              </a:rPr>
              <a:t>ОДНО ДЕЙСТВИЕ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3209544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Освободить путь конкретной нити и выполнить маленький тест одной смены цвета.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909560" cy="521208"/>
          </a:xfrm>
          <a:prstGeom prst="roundRect">
            <a:avLst>
              <a:gd name="adj" fmla="val 10526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185623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885C"/>
                </a:solidFill>
              </a:rPr>
              <a:t>КАК ПОНЯТЬ, ЧТО ЛУЧШЕ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61488" y="3877056"/>
            <a:ext cx="5486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52E"/>
                </a:solidFill>
              </a:rPr>
              <a:t>Нужный цвет приходит в заданном слое, подача не щёлкает, переход чистый и повторяемый.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274320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8A999"/>
                </a:solidFill>
              </a:rPr>
              <a:t>ИТОГ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09244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52E"/>
                </a:solidFill>
              </a:rPr>
              <a:t>Финальный чек-лист: готов ли я к самостоятельной печати?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767328" cy="2834640"/>
          </a:xfrm>
          <a:prstGeom prst="roundRect">
            <a:avLst>
              <a:gd name="adj" fmla="val 1935"/>
            </a:avLst>
          </a:prstGeom>
          <a:solidFill>
            <a:srgbClr val="E4F1F8"/>
          </a:solidFill>
          <a:ln w="10160">
            <a:solidFill>
              <a:srgbClr val="2878A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782312" y="1280160"/>
            <a:ext cx="3767328" cy="2834640"/>
          </a:xfrm>
          <a:prstGeom prst="roundRect">
            <a:avLst>
              <a:gd name="adj" fmla="val 1935"/>
            </a:avLst>
          </a:prstGeom>
          <a:solidFill>
            <a:srgbClr val="E0F3E9"/>
          </a:solidFill>
          <a:ln w="10160">
            <a:solidFill>
              <a:srgbClr val="2688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41248" y="1508760"/>
            <a:ext cx="3291840" cy="23774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знаю: филамент → экструдер → хотэнд → сопло → стол.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понимаю роль осей, температуры, скорости и обдува.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отличаю выравнивание стола от Z-offset.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выбрал правильные принтер, сопло, материал и профиль.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5029200" y="1508760"/>
            <a:ext cx="3291840" cy="2377440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нарезал модель и пролистал предпросмотр слоёв.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узнаю эталонный первый слой на тестовой плоскости.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остановлюсь при ударе, скрежете, дыме или запахе.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252E"/>
                </a:solidFill>
              </a:rPr>
              <a:t>Я диагностирую: симптом → первая проверка → одно действие → короткий тест.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85800" y="4370832"/>
            <a:ext cx="777240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747"/>
                </a:solidFill>
              </a:rPr>
              <a:t>Понимаю → проверяю → печатаю → наблюдаю → меняю только одно.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0060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5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3096</Words>
  <Application>Microsoft Macintosh PowerPoint</Application>
  <PresentationFormat>Экран (16:9)</PresentationFormat>
  <Paragraphs>455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8" baseType="lpstr">
      <vt:lpstr>Aptos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Nous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печатать на FDM-принтере с нуля</dc:title>
  <dc:subject>FDM-печать для полного новичка: теория, слайсер, практика, диагностика</dc:subject>
  <dc:creator>Hermes Agent</dc:creator>
  <cp:lastModifiedBy>m13259</cp:lastModifiedBy>
  <cp:revision>2</cp:revision>
  <dcterms:created xsi:type="dcterms:W3CDTF">2026-09-05T09:41:49Z</dcterms:created>
  <dcterms:modified xsi:type="dcterms:W3CDTF">2026-09-05T10:57:32Z</dcterms:modified>
</cp:coreProperties>
</file>